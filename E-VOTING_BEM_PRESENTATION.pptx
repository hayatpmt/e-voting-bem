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65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SISTEM E-VOTING BEM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2A5F5"/>
                </a:solidFill>
              </a:defRPr>
            </a:pPr>
            <a:r>
              <a:t>Dokumentasi Alur Proses &amp; Arsitektur Sistem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1565C0"/>
                </a:solidFill>
              </a:defRPr>
            </a:pPr>
            <a:r>
              <a:t>DAFTAR ISI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1000"/>
              </a:spcBef>
              <a:buNone/>
              <a:defRPr sz="2000"/>
            </a:pPr>
            <a:r>
              <a:rPr dirty="0"/>
              <a:t>1. Gambaran Umum </a:t>
            </a:r>
            <a:r>
              <a:rPr dirty="0" err="1"/>
              <a:t>Sistem</a:t>
            </a:r>
            <a:endParaRPr dirty="0"/>
          </a:p>
          <a:p>
            <a:pPr marL="0" indent="0">
              <a:spcBef>
                <a:spcPts val="1000"/>
              </a:spcBef>
              <a:buNone/>
              <a:defRPr sz="2000"/>
            </a:pPr>
            <a:r>
              <a:rPr dirty="0"/>
              <a:t>2. </a:t>
            </a:r>
            <a:r>
              <a:rPr dirty="0" err="1"/>
              <a:t>Arsitektur</a:t>
            </a:r>
            <a:r>
              <a:rPr dirty="0"/>
              <a:t> Database</a:t>
            </a:r>
          </a:p>
          <a:p>
            <a:pPr marL="0" indent="0">
              <a:spcBef>
                <a:spcPts val="1000"/>
              </a:spcBef>
              <a:buNone/>
              <a:defRPr sz="2000"/>
            </a:pPr>
            <a:r>
              <a:rPr dirty="0"/>
              <a:t>3. Peran </a:t>
            </a:r>
            <a:r>
              <a:rPr dirty="0" err="1"/>
              <a:t>Pengguna</a:t>
            </a:r>
            <a:r>
              <a:rPr dirty="0"/>
              <a:t> (User Roles)</a:t>
            </a:r>
          </a:p>
          <a:p>
            <a:pPr marL="0" indent="0">
              <a:spcBef>
                <a:spcPts val="1000"/>
              </a:spcBef>
              <a:buNone/>
              <a:defRPr sz="2000"/>
            </a:pPr>
            <a:r>
              <a:rPr dirty="0"/>
              <a:t>4. Alur Proses </a:t>
            </a:r>
            <a:r>
              <a:rPr dirty="0" err="1"/>
              <a:t>Mahasiswa</a:t>
            </a:r>
            <a:endParaRPr dirty="0"/>
          </a:p>
          <a:p>
            <a:pPr marL="0" indent="0">
              <a:spcBef>
                <a:spcPts val="1000"/>
              </a:spcBef>
              <a:buNone/>
              <a:defRPr sz="2000"/>
            </a:pPr>
            <a:r>
              <a:rPr dirty="0"/>
              <a:t>5. Alur Proses Admin</a:t>
            </a:r>
          </a:p>
          <a:p>
            <a:pPr marL="0" indent="0">
              <a:spcBef>
                <a:spcPts val="1000"/>
              </a:spcBef>
              <a:buNone/>
              <a:defRPr sz="2000"/>
            </a:pPr>
            <a:r>
              <a:rPr dirty="0"/>
              <a:t>6. Alur Voting </a:t>
            </a:r>
            <a:r>
              <a:rPr dirty="0" err="1"/>
              <a:t>Lengkap</a:t>
            </a:r>
            <a:endParaRPr dirty="0"/>
          </a:p>
          <a:p>
            <a:pPr marL="0" indent="0">
              <a:spcBef>
                <a:spcPts val="1000"/>
              </a:spcBef>
              <a:buNone/>
              <a:defRPr sz="2000"/>
            </a:pPr>
            <a:r>
              <a:rPr dirty="0"/>
              <a:t>7. Fitur-Fitur </a:t>
            </a:r>
            <a:r>
              <a:rPr dirty="0" err="1"/>
              <a:t>Sistem</a:t>
            </a:r>
            <a:endParaRPr dirty="0"/>
          </a:p>
          <a:p>
            <a:pPr marL="0" indent="0">
              <a:spcBef>
                <a:spcPts val="1000"/>
              </a:spcBef>
              <a:buNone/>
              <a:defRPr sz="2000"/>
            </a:pPr>
            <a:r>
              <a:rPr dirty="0"/>
              <a:t>8. </a:t>
            </a:r>
            <a:r>
              <a:rPr dirty="0" err="1"/>
              <a:t>Keamanan</a:t>
            </a:r>
            <a:r>
              <a:rPr dirty="0"/>
              <a:t> &amp; </a:t>
            </a:r>
            <a:r>
              <a:rPr dirty="0" err="1"/>
              <a:t>Validasi</a:t>
            </a:r>
            <a:endParaRPr dirty="0"/>
          </a:p>
          <a:p>
            <a:pPr marL="0" indent="0">
              <a:spcBef>
                <a:spcPts val="1000"/>
              </a:spcBef>
              <a:buNone/>
              <a:defRPr sz="2000"/>
            </a:pPr>
            <a:r>
              <a:rPr dirty="0"/>
              <a:t>9. </a:t>
            </a:r>
            <a:r>
              <a:rPr dirty="0" err="1"/>
              <a:t>Teknologi</a:t>
            </a:r>
            <a:r>
              <a:rPr dirty="0"/>
              <a:t> yang </a:t>
            </a:r>
            <a:r>
              <a:rPr dirty="0" err="1"/>
              <a:t>Digunakan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565C0"/>
                </a:solidFill>
              </a:defRPr>
            </a:pPr>
            <a:r>
              <a:t>GAMBARAN UMUM SISTEM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Bef>
                <a:spcPts val="1500"/>
              </a:spcBef>
              <a:defRPr sz="1800" b="1">
                <a:solidFill>
                  <a:srgbClr val="1565C0"/>
                </a:solidFill>
              </a:defRPr>
            </a:pPr>
            <a:r>
              <a:t>Tujuan: </a:t>
            </a:r>
            <a:r>
              <a:rPr b="0">
                <a:solidFill>
                  <a:srgbClr val="616161"/>
                </a:solidFill>
              </a:rPr>
              <a:t>Sistem pemilihan BEM secara digital yang aman dan transparan</a:t>
            </a:r>
          </a:p>
          <a:p>
            <a:pPr>
              <a:spcBef>
                <a:spcPts val="1500"/>
              </a:spcBef>
              <a:defRPr sz="1800" b="1">
                <a:solidFill>
                  <a:srgbClr val="1565C0"/>
                </a:solidFill>
              </a:defRPr>
            </a:pPr>
            <a:r>
              <a:t>Platform: </a:t>
            </a:r>
            <a:r>
              <a:rPr b="0">
                <a:solidFill>
                  <a:srgbClr val="616161"/>
                </a:solidFill>
              </a:rPr>
              <a:t>Web-based application menggunakan Laravel 12</a:t>
            </a:r>
          </a:p>
          <a:p>
            <a:pPr>
              <a:spcBef>
                <a:spcPts val="1500"/>
              </a:spcBef>
              <a:defRPr sz="1800" b="1">
                <a:solidFill>
                  <a:srgbClr val="1565C0"/>
                </a:solidFill>
              </a:defRPr>
            </a:pPr>
            <a:r>
              <a:t>Pengguna: </a:t>
            </a:r>
            <a:r>
              <a:rPr b="0">
                <a:solidFill>
                  <a:srgbClr val="616161"/>
                </a:solidFill>
              </a:rPr>
              <a:t>Admin dan Mahasiswa</a:t>
            </a:r>
          </a:p>
          <a:p>
            <a:pPr>
              <a:spcBef>
                <a:spcPts val="1500"/>
              </a:spcBef>
              <a:defRPr sz="1800" b="1">
                <a:solidFill>
                  <a:srgbClr val="1565C0"/>
                </a:solidFill>
              </a:defRPr>
            </a:pPr>
            <a:r>
              <a:t>Fitur Utama: </a:t>
            </a:r>
            <a:r>
              <a:rPr b="0">
                <a:solidFill>
                  <a:srgbClr val="616161"/>
                </a:solidFill>
              </a:rPr>
              <a:t>Verifikasi mahasiswa, voting, real-time chart, manajemen data</a:t>
            </a:r>
          </a:p>
          <a:p>
            <a:pPr>
              <a:spcBef>
                <a:spcPts val="1500"/>
              </a:spcBef>
              <a:defRPr sz="1800" b="1">
                <a:solidFill>
                  <a:srgbClr val="1565C0"/>
                </a:solidFill>
              </a:defRPr>
            </a:pPr>
            <a:r>
              <a:t>Keamanan: </a:t>
            </a:r>
            <a:r>
              <a:rPr b="0">
                <a:solidFill>
                  <a:srgbClr val="616161"/>
                </a:solidFill>
              </a:rPr>
              <a:t>Autentikasi, role-based access control, one-time voting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565C0"/>
                </a:solidFill>
              </a:defRPr>
            </a:pPr>
            <a:r>
              <a:t>ARSITEKTUR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1">
                <a:solidFill>
                  <a:srgbClr val="1565C0"/>
                </a:solidFill>
              </a:defRPr>
            </a:pPr>
            <a:r>
              <a:rPr dirty="0"/>
              <a:t>Tabel Utama:</a:t>
            </a:r>
          </a:p>
          <a:p>
            <a:pPr lvl="1">
              <a:spcBef>
                <a:spcPts val="800"/>
              </a:spcBef>
              <a:defRPr sz="1600"/>
            </a:pPr>
            <a:r>
              <a:rPr dirty="0"/>
              <a:t>1. USERS - Data </a:t>
            </a:r>
            <a:r>
              <a:rPr dirty="0" err="1"/>
              <a:t>autentikasi</a:t>
            </a:r>
            <a:r>
              <a:rPr dirty="0"/>
              <a:t> &amp; role </a:t>
            </a:r>
            <a:r>
              <a:rPr dirty="0" err="1"/>
              <a:t>pengguna</a:t>
            </a:r>
            <a:endParaRPr dirty="0"/>
          </a:p>
          <a:p>
            <a:pPr lvl="1">
              <a:spcBef>
                <a:spcPts val="800"/>
              </a:spcBef>
              <a:defRPr sz="1600"/>
            </a:pPr>
            <a:r>
              <a:rPr dirty="0"/>
              <a:t>2. ADMIN_PROFILES - </a:t>
            </a:r>
            <a:r>
              <a:rPr dirty="0" err="1"/>
              <a:t>Profil</a:t>
            </a:r>
            <a:r>
              <a:rPr dirty="0"/>
              <a:t> </a:t>
            </a:r>
            <a:r>
              <a:rPr dirty="0" err="1"/>
              <a:t>lengkap</a:t>
            </a:r>
            <a:r>
              <a:rPr dirty="0"/>
              <a:t> admin</a:t>
            </a:r>
          </a:p>
          <a:p>
            <a:pPr lvl="1">
              <a:spcBef>
                <a:spcPts val="800"/>
              </a:spcBef>
              <a:defRPr sz="1600"/>
            </a:pPr>
            <a:r>
              <a:rPr dirty="0"/>
              <a:t>3. MAHASISWA_PROFILES - </a:t>
            </a:r>
            <a:r>
              <a:rPr dirty="0" err="1"/>
              <a:t>Profil</a:t>
            </a:r>
            <a:r>
              <a:rPr dirty="0"/>
              <a:t> </a:t>
            </a:r>
            <a:r>
              <a:rPr dirty="0" err="1"/>
              <a:t>lengkap</a:t>
            </a:r>
            <a:r>
              <a:rPr dirty="0"/>
              <a:t> </a:t>
            </a:r>
            <a:r>
              <a:rPr dirty="0" err="1"/>
              <a:t>mahasiswa</a:t>
            </a:r>
            <a:r>
              <a:rPr dirty="0"/>
              <a:t> (NIM, </a:t>
            </a:r>
            <a:r>
              <a:rPr dirty="0" err="1"/>
              <a:t>jurusan</a:t>
            </a:r>
            <a:r>
              <a:rPr dirty="0"/>
              <a:t>, status voting)</a:t>
            </a:r>
          </a:p>
          <a:p>
            <a:pPr lvl="1">
              <a:spcBef>
                <a:spcPts val="800"/>
              </a:spcBef>
              <a:defRPr sz="1600"/>
            </a:pPr>
            <a:r>
              <a:rPr dirty="0"/>
              <a:t>4. KANDIDATS - Data </a:t>
            </a:r>
            <a:r>
              <a:rPr dirty="0" err="1"/>
              <a:t>kandidat</a:t>
            </a:r>
            <a:r>
              <a:rPr dirty="0"/>
              <a:t> &amp; </a:t>
            </a:r>
            <a:r>
              <a:rPr dirty="0" err="1"/>
              <a:t>pasangan</a:t>
            </a:r>
            <a:r>
              <a:rPr dirty="0"/>
              <a:t> </a:t>
            </a:r>
            <a:r>
              <a:rPr dirty="0" err="1"/>
              <a:t>calon</a:t>
            </a:r>
            <a:endParaRPr dirty="0"/>
          </a:p>
          <a:p>
            <a:pPr lvl="1">
              <a:spcBef>
                <a:spcPts val="800"/>
              </a:spcBef>
              <a:defRPr sz="1600"/>
            </a:pPr>
            <a:r>
              <a:rPr dirty="0"/>
              <a:t>5. VOTES - </a:t>
            </a:r>
            <a:r>
              <a:rPr dirty="0" err="1"/>
              <a:t>Rekaman</a:t>
            </a:r>
            <a:r>
              <a:rPr dirty="0"/>
              <a:t> </a:t>
            </a:r>
            <a:r>
              <a:rPr dirty="0" err="1"/>
              <a:t>suara</a:t>
            </a:r>
            <a:r>
              <a:rPr dirty="0"/>
              <a:t> yang </a:t>
            </a:r>
            <a:r>
              <a:rPr dirty="0" err="1"/>
              <a:t>masuk</a:t>
            </a:r>
            <a:endParaRPr dirty="0"/>
          </a:p>
          <a:p>
            <a:pPr lvl="1">
              <a:spcBef>
                <a:spcPts val="800"/>
              </a:spcBef>
              <a:defRPr sz="1600"/>
            </a:pPr>
            <a:r>
              <a:rPr dirty="0"/>
              <a:t>6. SETTINGS - </a:t>
            </a:r>
            <a:r>
              <a:rPr dirty="0" err="1"/>
              <a:t>Konfigurasi</a:t>
            </a:r>
            <a:r>
              <a:rPr dirty="0"/>
              <a:t> </a:t>
            </a:r>
            <a:r>
              <a:rPr dirty="0" err="1"/>
              <a:t>periode</a:t>
            </a:r>
            <a:r>
              <a:rPr dirty="0"/>
              <a:t> voting</a:t>
            </a:r>
          </a:p>
          <a:p>
            <a:br>
              <a:rPr dirty="0"/>
            </a:br>
            <a:r>
              <a:rPr dirty="0" err="1"/>
              <a:t>Relasi</a:t>
            </a:r>
            <a:r>
              <a:rPr dirty="0"/>
              <a:t>:</a:t>
            </a:r>
          </a:p>
          <a:p>
            <a:pPr>
              <a:spcBef>
                <a:spcPts val="500"/>
              </a:spcBef>
              <a:defRPr sz="1600"/>
            </a:pPr>
            <a:r>
              <a:rPr dirty="0"/>
              <a:t>• User (1:1) Admin Profile / </a:t>
            </a:r>
            <a:r>
              <a:rPr dirty="0" err="1"/>
              <a:t>Mahasiswa</a:t>
            </a:r>
            <a:r>
              <a:rPr dirty="0"/>
              <a:t> Profile</a:t>
            </a:r>
          </a:p>
          <a:p>
            <a:pPr>
              <a:spcBef>
                <a:spcPts val="500"/>
              </a:spcBef>
              <a:defRPr sz="1600"/>
            </a:pPr>
            <a:r>
              <a:rPr dirty="0"/>
              <a:t>• User (1:M) Votes</a:t>
            </a:r>
          </a:p>
          <a:p>
            <a:pPr>
              <a:spcBef>
                <a:spcPts val="500"/>
              </a:spcBef>
              <a:defRPr sz="1600"/>
            </a:pPr>
            <a:r>
              <a:rPr dirty="0"/>
              <a:t>• </a:t>
            </a:r>
            <a:r>
              <a:rPr dirty="0" err="1"/>
              <a:t>Kandidat</a:t>
            </a:r>
            <a:r>
              <a:rPr dirty="0"/>
              <a:t> (1:M) Votes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565C0"/>
                </a:solidFill>
              </a:defRPr>
            </a:pPr>
            <a:r>
              <a:t>PERAN PENGGUNA (USER ROLES)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400" b="1">
                <a:solidFill>
                  <a:srgbClr val="1565C0"/>
                </a:solidFill>
              </a:defRPr>
            </a:pPr>
            <a:r>
              <a:rPr dirty="0"/>
              <a:t>👨‍💼 ADMI</a:t>
            </a:r>
            <a:r>
              <a:rPr lang="en-ID" dirty="0"/>
              <a:t>N</a:t>
            </a:r>
            <a:endParaRPr dirty="0"/>
          </a:p>
          <a:p>
            <a:pPr>
              <a:spcBef>
                <a:spcPts val="800"/>
              </a:spcBef>
              <a:defRPr sz="1400"/>
            </a:pPr>
            <a:r>
              <a:rPr dirty="0"/>
              <a:t>✓ Login </a:t>
            </a:r>
            <a:r>
              <a:rPr dirty="0" err="1"/>
              <a:t>dengan</a:t>
            </a:r>
            <a:r>
              <a:rPr dirty="0"/>
              <a:t> email &amp; password</a:t>
            </a:r>
          </a:p>
          <a:p>
            <a:pPr>
              <a:spcBef>
                <a:spcPts val="800"/>
              </a:spcBef>
              <a:defRPr sz="1400"/>
            </a:pPr>
            <a:r>
              <a:rPr dirty="0"/>
              <a:t>✓ </a:t>
            </a:r>
            <a:r>
              <a:rPr dirty="0" err="1"/>
              <a:t>Manajemen</a:t>
            </a:r>
            <a:r>
              <a:rPr dirty="0"/>
              <a:t> </a:t>
            </a:r>
            <a:r>
              <a:rPr dirty="0" err="1"/>
              <a:t>kandidat</a:t>
            </a:r>
            <a:r>
              <a:rPr dirty="0"/>
              <a:t> (CRUD)</a:t>
            </a:r>
          </a:p>
          <a:p>
            <a:pPr>
              <a:spcBef>
                <a:spcPts val="800"/>
              </a:spcBef>
              <a:defRPr sz="1400"/>
            </a:pPr>
            <a:r>
              <a:rPr dirty="0"/>
              <a:t>✓ </a:t>
            </a:r>
            <a:r>
              <a:rPr dirty="0" err="1"/>
              <a:t>Manajemen</a:t>
            </a:r>
            <a:r>
              <a:rPr dirty="0"/>
              <a:t> </a:t>
            </a:r>
            <a:r>
              <a:rPr dirty="0" err="1"/>
              <a:t>mahasiswa</a:t>
            </a:r>
            <a:r>
              <a:rPr dirty="0"/>
              <a:t> (CRUD)</a:t>
            </a:r>
          </a:p>
          <a:p>
            <a:pPr>
              <a:spcBef>
                <a:spcPts val="800"/>
              </a:spcBef>
              <a:defRPr sz="1400"/>
            </a:pPr>
            <a:r>
              <a:rPr dirty="0"/>
              <a:t>✓ Import/export data </a:t>
            </a:r>
            <a:r>
              <a:rPr dirty="0" err="1"/>
              <a:t>mahasiswa</a:t>
            </a:r>
            <a:endParaRPr dirty="0"/>
          </a:p>
          <a:p>
            <a:pPr>
              <a:spcBef>
                <a:spcPts val="800"/>
              </a:spcBef>
              <a:defRPr sz="1400"/>
            </a:pPr>
            <a:r>
              <a:rPr dirty="0"/>
              <a:t>✓ </a:t>
            </a:r>
            <a:r>
              <a:rPr dirty="0" err="1"/>
              <a:t>Manajemen</a:t>
            </a:r>
            <a:r>
              <a:rPr dirty="0"/>
              <a:t> admin lain</a:t>
            </a:r>
          </a:p>
          <a:p>
            <a:pPr>
              <a:spcBef>
                <a:spcPts val="800"/>
              </a:spcBef>
              <a:defRPr sz="1400"/>
            </a:pPr>
            <a:r>
              <a:rPr dirty="0"/>
              <a:t>✓ </a:t>
            </a:r>
            <a:r>
              <a:rPr dirty="0" err="1"/>
              <a:t>Lihat</a:t>
            </a:r>
            <a:r>
              <a:rPr dirty="0"/>
              <a:t> </a:t>
            </a:r>
            <a:r>
              <a:rPr dirty="0" err="1"/>
              <a:t>rekap</a:t>
            </a:r>
            <a:r>
              <a:rPr dirty="0"/>
              <a:t> </a:t>
            </a:r>
            <a:r>
              <a:rPr dirty="0" err="1"/>
              <a:t>hasil</a:t>
            </a:r>
            <a:r>
              <a:rPr dirty="0"/>
              <a:t> voting</a:t>
            </a:r>
          </a:p>
          <a:p>
            <a:pPr>
              <a:spcBef>
                <a:spcPts val="800"/>
              </a:spcBef>
              <a:defRPr sz="1400"/>
            </a:pPr>
            <a:r>
              <a:rPr dirty="0"/>
              <a:t>✓ </a:t>
            </a:r>
            <a:r>
              <a:rPr dirty="0" err="1"/>
              <a:t>Konfigurasi</a:t>
            </a:r>
            <a:r>
              <a:rPr dirty="0"/>
              <a:t> </a:t>
            </a:r>
            <a:r>
              <a:rPr dirty="0" err="1"/>
              <a:t>periode</a:t>
            </a:r>
            <a:r>
              <a:rPr dirty="0"/>
              <a:t> voting</a:t>
            </a:r>
          </a:p>
          <a:p>
            <a:pPr>
              <a:spcBef>
                <a:spcPts val="800"/>
              </a:spcBef>
              <a:defRPr sz="1400"/>
            </a:pPr>
            <a:r>
              <a:rPr dirty="0"/>
              <a:t>✓ Monitor status voting real-time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371600"/>
            <a:ext cx="3657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400" b="1">
                <a:solidFill>
                  <a:srgbClr val="43A047"/>
                </a:solidFill>
              </a:defRPr>
            </a:pPr>
            <a:r>
              <a:t>🎓 MAHASISWA</a:t>
            </a:r>
          </a:p>
          <a:p>
            <a:pPr>
              <a:spcBef>
                <a:spcPts val="800"/>
              </a:spcBef>
              <a:defRPr sz="1400"/>
            </a:pPr>
            <a:r>
              <a:t>✓ Verifikasi dengan NIM &amp; Password</a:t>
            </a:r>
          </a:p>
          <a:p>
            <a:pPr>
              <a:spcBef>
                <a:spcPts val="800"/>
              </a:spcBef>
              <a:defRPr sz="1400"/>
            </a:pPr>
            <a:r>
              <a:t>✓ Lihat daftar kandidat</a:t>
            </a:r>
          </a:p>
          <a:p>
            <a:pPr>
              <a:spcBef>
                <a:spcPts val="800"/>
              </a:spcBef>
              <a:defRPr sz="1400"/>
            </a:pPr>
            <a:r>
              <a:t>✓ Pilih kandidat (1x voting)</a:t>
            </a:r>
          </a:p>
          <a:p>
            <a:pPr>
              <a:spcBef>
                <a:spcPts val="800"/>
              </a:spcBef>
              <a:defRPr sz="1400"/>
            </a:pPr>
            <a:r>
              <a:t>✓ Konfirmasi pilihan</a:t>
            </a:r>
          </a:p>
          <a:p>
            <a:pPr>
              <a:spcBef>
                <a:spcPts val="800"/>
              </a:spcBef>
              <a:defRPr sz="1400"/>
            </a:pPr>
            <a:r>
              <a:t>✓ Lihat hasil voting real-time</a:t>
            </a:r>
          </a:p>
          <a:p>
            <a:pPr>
              <a:spcBef>
                <a:spcPts val="800"/>
              </a:spcBef>
              <a:defRPr sz="1400"/>
            </a:pPr>
            <a:endParaRPr/>
          </a:p>
          <a:p>
            <a:pPr>
              <a:spcBef>
                <a:spcPts val="800"/>
              </a:spcBef>
              <a:defRPr sz="1400"/>
            </a:pPr>
            <a:r>
              <a:t>⚠️ Tidak bisa login ulang</a:t>
            </a:r>
          </a:p>
          <a:p>
            <a:pPr>
              <a:spcBef>
                <a:spcPts val="800"/>
              </a:spcBef>
              <a:defRPr sz="1400"/>
            </a:pPr>
            <a:r>
              <a:t>⚠️ Tidak bisa ubah pilihan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43A047"/>
                </a:solidFill>
              </a:defRPr>
            </a:pPr>
            <a:r>
              <a:t>ALUR MAHASISWA: VERIFIKASI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4191"/>
            <a:ext cx="8229600" cy="4525963"/>
          </a:xfrm>
        </p:spPr>
        <p:txBody>
          <a:bodyPr>
            <a:normAutofit lnSpcReduction="10000"/>
          </a:bodyPr>
          <a:lstStyle/>
          <a:p>
            <a:pPr>
              <a:spcBef>
                <a:spcPts val="1200"/>
              </a:spcBef>
              <a:defRPr sz="1800" b="1">
                <a:solidFill>
                  <a:srgbClr val="43A047"/>
                </a:solidFill>
              </a:defRPr>
            </a:pPr>
            <a:r>
              <a:rPr dirty="0"/>
              <a:t>1. Landing Page</a:t>
            </a:r>
          </a:p>
          <a:p>
            <a:pPr lvl="1">
              <a:defRPr sz="1400">
                <a:solidFill>
                  <a:srgbClr val="616161"/>
                </a:solidFill>
              </a:defRPr>
            </a:pPr>
            <a:r>
              <a:rPr dirty="0"/>
              <a:t>   </a:t>
            </a:r>
            <a:r>
              <a:rPr dirty="0" err="1"/>
              <a:t>Mahasiswa</a:t>
            </a:r>
            <a:r>
              <a:rPr dirty="0"/>
              <a:t> </a:t>
            </a:r>
            <a:r>
              <a:rPr dirty="0" err="1"/>
              <a:t>mengakses</a:t>
            </a:r>
            <a:r>
              <a:rPr dirty="0"/>
              <a:t> </a:t>
            </a:r>
            <a:r>
              <a:rPr dirty="0" err="1"/>
              <a:t>halaman</a:t>
            </a:r>
            <a:r>
              <a:rPr dirty="0"/>
              <a:t> </a:t>
            </a:r>
            <a:r>
              <a:rPr dirty="0" err="1"/>
              <a:t>utama</a:t>
            </a:r>
            <a:endParaRPr dirty="0"/>
          </a:p>
          <a:p>
            <a:pPr>
              <a:spcBef>
                <a:spcPts val="1200"/>
              </a:spcBef>
              <a:defRPr sz="1800" b="1">
                <a:solidFill>
                  <a:srgbClr val="43A047"/>
                </a:solidFill>
              </a:defRPr>
            </a:pPr>
            <a:r>
              <a:rPr dirty="0"/>
              <a:t>2. </a:t>
            </a:r>
            <a:r>
              <a:rPr dirty="0" err="1"/>
              <a:t>Klik</a:t>
            </a:r>
            <a:r>
              <a:rPr dirty="0"/>
              <a:t> '</a:t>
            </a:r>
            <a:r>
              <a:rPr dirty="0" err="1"/>
              <a:t>Mahasiswa</a:t>
            </a:r>
            <a:r>
              <a:rPr dirty="0"/>
              <a:t>'</a:t>
            </a:r>
          </a:p>
          <a:p>
            <a:pPr lvl="1">
              <a:defRPr sz="1400">
                <a:solidFill>
                  <a:srgbClr val="616161"/>
                </a:solidFill>
              </a:defRPr>
            </a:pPr>
            <a:r>
              <a:rPr dirty="0"/>
              <a:t>   </a:t>
            </a:r>
            <a:r>
              <a:rPr dirty="0" err="1"/>
              <a:t>Diarahkan</a:t>
            </a:r>
            <a:r>
              <a:rPr dirty="0"/>
              <a:t> </a:t>
            </a:r>
            <a:r>
              <a:rPr dirty="0" err="1"/>
              <a:t>ke</a:t>
            </a:r>
            <a:r>
              <a:rPr dirty="0"/>
              <a:t> </a:t>
            </a:r>
            <a:r>
              <a:rPr dirty="0" err="1"/>
              <a:t>halaman</a:t>
            </a:r>
            <a:r>
              <a:rPr dirty="0"/>
              <a:t> </a:t>
            </a:r>
            <a:r>
              <a:rPr dirty="0" err="1"/>
              <a:t>verifikasi</a:t>
            </a:r>
            <a:r>
              <a:rPr dirty="0"/>
              <a:t> (/</a:t>
            </a:r>
            <a:r>
              <a:rPr dirty="0" err="1"/>
              <a:t>verifikasi</a:t>
            </a:r>
            <a:r>
              <a:rPr dirty="0"/>
              <a:t>)</a:t>
            </a:r>
          </a:p>
          <a:p>
            <a:pPr>
              <a:spcBef>
                <a:spcPts val="1200"/>
              </a:spcBef>
              <a:defRPr sz="1800" b="1">
                <a:solidFill>
                  <a:srgbClr val="43A047"/>
                </a:solidFill>
              </a:defRPr>
            </a:pPr>
            <a:r>
              <a:rPr dirty="0"/>
              <a:t>3. Input NIM &amp; Password</a:t>
            </a:r>
          </a:p>
          <a:p>
            <a:pPr lvl="1">
              <a:defRPr sz="1400">
                <a:solidFill>
                  <a:srgbClr val="616161"/>
                </a:solidFill>
              </a:defRPr>
            </a:pPr>
            <a:r>
              <a:rPr dirty="0"/>
              <a:t>   </a:t>
            </a:r>
            <a:r>
              <a:rPr dirty="0" err="1"/>
              <a:t>Mahasiswa</a:t>
            </a:r>
            <a:r>
              <a:rPr dirty="0"/>
              <a:t> </a:t>
            </a:r>
            <a:r>
              <a:rPr dirty="0" err="1"/>
              <a:t>memasukkan</a:t>
            </a:r>
            <a:r>
              <a:rPr dirty="0"/>
              <a:t> </a:t>
            </a:r>
            <a:r>
              <a:rPr dirty="0" err="1"/>
              <a:t>kredensial</a:t>
            </a:r>
            <a:endParaRPr dirty="0"/>
          </a:p>
          <a:p>
            <a:pPr>
              <a:spcBef>
                <a:spcPts val="1200"/>
              </a:spcBef>
              <a:defRPr sz="1800" b="1">
                <a:solidFill>
                  <a:srgbClr val="43A047"/>
                </a:solidFill>
              </a:defRPr>
            </a:pPr>
            <a:r>
              <a:rPr dirty="0"/>
              <a:t>4. </a:t>
            </a:r>
            <a:r>
              <a:rPr dirty="0" err="1"/>
              <a:t>Sistem</a:t>
            </a:r>
            <a:r>
              <a:rPr dirty="0"/>
              <a:t> </a:t>
            </a:r>
            <a:r>
              <a:rPr dirty="0" err="1"/>
              <a:t>Validasi</a:t>
            </a:r>
            <a:endParaRPr dirty="0"/>
          </a:p>
          <a:p>
            <a:pPr lvl="1">
              <a:defRPr sz="1400">
                <a:solidFill>
                  <a:srgbClr val="616161"/>
                </a:solidFill>
              </a:defRPr>
            </a:pPr>
            <a:r>
              <a:rPr dirty="0"/>
              <a:t>   Cek NIM di database </a:t>
            </a:r>
            <a:r>
              <a:rPr dirty="0" err="1"/>
              <a:t>mahasiswa_profiles</a:t>
            </a:r>
            <a:endParaRPr dirty="0"/>
          </a:p>
          <a:p>
            <a:pPr>
              <a:spcBef>
                <a:spcPts val="1200"/>
              </a:spcBef>
              <a:defRPr sz="1800" b="1">
                <a:solidFill>
                  <a:srgbClr val="43A047"/>
                </a:solidFill>
              </a:defRPr>
            </a:pPr>
            <a:r>
              <a:rPr dirty="0"/>
              <a:t>5. Cek Status Voting</a:t>
            </a:r>
          </a:p>
          <a:p>
            <a:pPr lvl="1">
              <a:defRPr sz="1400">
                <a:solidFill>
                  <a:srgbClr val="616161"/>
                </a:solidFill>
              </a:defRPr>
            </a:pPr>
            <a:r>
              <a:rPr dirty="0"/>
              <a:t>   </a:t>
            </a:r>
            <a:r>
              <a:rPr dirty="0" err="1"/>
              <a:t>Validasi</a:t>
            </a:r>
            <a:r>
              <a:rPr dirty="0"/>
              <a:t> </a:t>
            </a:r>
            <a:r>
              <a:rPr dirty="0" err="1"/>
              <a:t>apakah</a:t>
            </a:r>
            <a:r>
              <a:rPr dirty="0"/>
              <a:t> </a:t>
            </a:r>
            <a:r>
              <a:rPr dirty="0" err="1"/>
              <a:t>sudah</a:t>
            </a:r>
            <a:r>
              <a:rPr dirty="0"/>
              <a:t> </a:t>
            </a:r>
            <a:r>
              <a:rPr dirty="0" err="1"/>
              <a:t>pernah</a:t>
            </a:r>
            <a:r>
              <a:rPr dirty="0"/>
              <a:t> voting (</a:t>
            </a:r>
            <a:r>
              <a:rPr dirty="0" err="1"/>
              <a:t>has_voted</a:t>
            </a:r>
            <a:r>
              <a:rPr dirty="0"/>
              <a:t>)</a:t>
            </a:r>
          </a:p>
          <a:p>
            <a:pPr>
              <a:spcBef>
                <a:spcPts val="1200"/>
              </a:spcBef>
              <a:defRPr sz="1800" b="1">
                <a:solidFill>
                  <a:srgbClr val="43A047"/>
                </a:solidFill>
              </a:defRPr>
            </a:pPr>
            <a:r>
              <a:rPr dirty="0"/>
              <a:t>6. Create Session</a:t>
            </a:r>
          </a:p>
          <a:p>
            <a:pPr lvl="1">
              <a:defRPr sz="1400">
                <a:solidFill>
                  <a:srgbClr val="616161"/>
                </a:solidFill>
              </a:defRPr>
            </a:pPr>
            <a:r>
              <a:rPr dirty="0"/>
              <a:t>   Jika valid &amp; </a:t>
            </a:r>
            <a:r>
              <a:rPr dirty="0" err="1"/>
              <a:t>belum</a:t>
            </a:r>
            <a:r>
              <a:rPr dirty="0"/>
              <a:t> voting → </a:t>
            </a:r>
            <a:r>
              <a:rPr dirty="0" err="1"/>
              <a:t>buat</a:t>
            </a:r>
            <a:r>
              <a:rPr dirty="0"/>
              <a:t> session</a:t>
            </a:r>
          </a:p>
          <a:p>
            <a:pPr>
              <a:spcBef>
                <a:spcPts val="1200"/>
              </a:spcBef>
              <a:defRPr sz="1800" b="1">
                <a:solidFill>
                  <a:srgbClr val="43A047"/>
                </a:solidFill>
              </a:defRPr>
            </a:pPr>
            <a:r>
              <a:rPr dirty="0"/>
              <a:t>7. Redirect</a:t>
            </a:r>
          </a:p>
          <a:p>
            <a:pPr lvl="1">
              <a:defRPr sz="1400">
                <a:solidFill>
                  <a:srgbClr val="616161"/>
                </a:solidFill>
              </a:defRPr>
            </a:pPr>
            <a:r>
              <a:rPr dirty="0"/>
              <a:t>   </a:t>
            </a:r>
            <a:r>
              <a:rPr dirty="0" err="1"/>
              <a:t>Arahkan</a:t>
            </a:r>
            <a:r>
              <a:rPr dirty="0"/>
              <a:t> </a:t>
            </a:r>
            <a:r>
              <a:rPr dirty="0" err="1"/>
              <a:t>ke</a:t>
            </a:r>
            <a:r>
              <a:rPr dirty="0"/>
              <a:t> </a:t>
            </a:r>
            <a:r>
              <a:rPr dirty="0" err="1"/>
              <a:t>halaman</a:t>
            </a:r>
            <a:r>
              <a:rPr dirty="0"/>
              <a:t> voting (/voting)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43A047"/>
                </a:solidFill>
              </a:defRPr>
            </a:pPr>
            <a:r>
              <a:t>ALUR MAHASISWA: VOTING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ts val="800"/>
              </a:spcBef>
              <a:defRPr sz="1600" b="1">
                <a:solidFill>
                  <a:srgbClr val="43A047"/>
                </a:solidFill>
              </a:defRPr>
            </a:pPr>
            <a:r>
              <a:rPr dirty="0"/>
              <a:t>1. Halaman Voting</a:t>
            </a:r>
          </a:p>
          <a:p>
            <a:pPr lvl="1">
              <a:defRPr sz="1300">
                <a:solidFill>
                  <a:srgbClr val="616161"/>
                </a:solidFill>
              </a:defRPr>
            </a:pPr>
            <a:r>
              <a:rPr dirty="0"/>
              <a:t>   </a:t>
            </a:r>
            <a:r>
              <a:rPr dirty="0" err="1"/>
              <a:t>Tampilkan</a:t>
            </a:r>
            <a:r>
              <a:rPr dirty="0"/>
              <a:t> </a:t>
            </a:r>
            <a:r>
              <a:rPr dirty="0" err="1"/>
              <a:t>semua</a:t>
            </a:r>
            <a:r>
              <a:rPr dirty="0"/>
              <a:t> </a:t>
            </a:r>
            <a:r>
              <a:rPr dirty="0" err="1"/>
              <a:t>kandidat</a:t>
            </a:r>
            <a:r>
              <a:rPr dirty="0"/>
              <a:t> </a:t>
            </a:r>
            <a:r>
              <a:rPr dirty="0" err="1"/>
              <a:t>dengan</a:t>
            </a:r>
            <a:r>
              <a:rPr dirty="0"/>
              <a:t> </a:t>
            </a:r>
            <a:r>
              <a:rPr dirty="0" err="1"/>
              <a:t>foto</a:t>
            </a:r>
            <a:r>
              <a:rPr dirty="0"/>
              <a:t>, </a:t>
            </a:r>
            <a:r>
              <a:rPr dirty="0" err="1"/>
              <a:t>visi</a:t>
            </a:r>
            <a:r>
              <a:rPr dirty="0"/>
              <a:t>, </a:t>
            </a:r>
            <a:r>
              <a:rPr dirty="0" err="1"/>
              <a:t>misi</a:t>
            </a:r>
            <a:endParaRPr dirty="0"/>
          </a:p>
          <a:p>
            <a:pPr>
              <a:spcBef>
                <a:spcPts val="800"/>
              </a:spcBef>
              <a:defRPr sz="1600" b="1">
                <a:solidFill>
                  <a:srgbClr val="43A047"/>
                </a:solidFill>
              </a:defRPr>
            </a:pPr>
            <a:r>
              <a:rPr dirty="0"/>
              <a:t>2. </a:t>
            </a:r>
            <a:r>
              <a:rPr dirty="0" err="1"/>
              <a:t>Pilih</a:t>
            </a:r>
            <a:r>
              <a:rPr dirty="0"/>
              <a:t> </a:t>
            </a:r>
            <a:r>
              <a:rPr dirty="0" err="1"/>
              <a:t>Kandidat</a:t>
            </a:r>
            <a:endParaRPr dirty="0"/>
          </a:p>
          <a:p>
            <a:pPr lvl="1">
              <a:defRPr sz="1300">
                <a:solidFill>
                  <a:srgbClr val="616161"/>
                </a:solidFill>
              </a:defRPr>
            </a:pPr>
            <a:r>
              <a:rPr dirty="0"/>
              <a:t>   </a:t>
            </a:r>
            <a:r>
              <a:rPr dirty="0" err="1"/>
              <a:t>Mahasiswa</a:t>
            </a:r>
            <a:r>
              <a:rPr dirty="0"/>
              <a:t> </a:t>
            </a:r>
            <a:r>
              <a:rPr dirty="0" err="1"/>
              <a:t>klik</a:t>
            </a:r>
            <a:r>
              <a:rPr dirty="0"/>
              <a:t> </a:t>
            </a:r>
            <a:r>
              <a:rPr dirty="0" err="1"/>
              <a:t>tombol</a:t>
            </a:r>
            <a:r>
              <a:rPr dirty="0"/>
              <a:t> 'Vote' pada </a:t>
            </a:r>
            <a:r>
              <a:rPr dirty="0" err="1"/>
              <a:t>kandidat</a:t>
            </a:r>
            <a:endParaRPr dirty="0"/>
          </a:p>
          <a:p>
            <a:pPr>
              <a:spcBef>
                <a:spcPts val="800"/>
              </a:spcBef>
              <a:defRPr sz="1600" b="1">
                <a:solidFill>
                  <a:srgbClr val="43A047"/>
                </a:solidFill>
              </a:defRPr>
            </a:pPr>
            <a:r>
              <a:rPr dirty="0"/>
              <a:t>3. </a:t>
            </a:r>
            <a:r>
              <a:rPr dirty="0" err="1"/>
              <a:t>Konfirmasi</a:t>
            </a:r>
            <a:r>
              <a:rPr dirty="0"/>
              <a:t> Modal</a:t>
            </a:r>
          </a:p>
          <a:p>
            <a:pPr lvl="1">
              <a:defRPr sz="1300">
                <a:solidFill>
                  <a:srgbClr val="616161"/>
                </a:solidFill>
              </a:defRPr>
            </a:pPr>
            <a:r>
              <a:rPr dirty="0"/>
              <a:t>   Pop-up </a:t>
            </a:r>
            <a:r>
              <a:rPr dirty="0" err="1"/>
              <a:t>konfirmasi</a:t>
            </a:r>
            <a:r>
              <a:rPr dirty="0"/>
              <a:t> </a:t>
            </a:r>
            <a:r>
              <a:rPr dirty="0" err="1"/>
              <a:t>pilihan</a:t>
            </a:r>
            <a:endParaRPr dirty="0"/>
          </a:p>
          <a:p>
            <a:pPr>
              <a:spcBef>
                <a:spcPts val="800"/>
              </a:spcBef>
              <a:defRPr sz="1600" b="1">
                <a:solidFill>
                  <a:srgbClr val="43A047"/>
                </a:solidFill>
              </a:defRPr>
            </a:pPr>
            <a:r>
              <a:rPr dirty="0"/>
              <a:t>4. Submit Vote</a:t>
            </a:r>
          </a:p>
          <a:p>
            <a:pPr lvl="1">
              <a:defRPr sz="1300">
                <a:solidFill>
                  <a:srgbClr val="616161"/>
                </a:solidFill>
              </a:defRPr>
            </a:pPr>
            <a:r>
              <a:rPr dirty="0"/>
              <a:t>   </a:t>
            </a:r>
            <a:r>
              <a:rPr dirty="0" err="1"/>
              <a:t>Mahasiswa</a:t>
            </a:r>
            <a:r>
              <a:rPr dirty="0"/>
              <a:t> confirm → POST </a:t>
            </a:r>
            <a:r>
              <a:rPr dirty="0" err="1"/>
              <a:t>ke</a:t>
            </a:r>
            <a:r>
              <a:rPr dirty="0"/>
              <a:t> /vote/{id}</a:t>
            </a:r>
          </a:p>
          <a:p>
            <a:pPr>
              <a:spcBef>
                <a:spcPts val="800"/>
              </a:spcBef>
              <a:defRPr sz="1600" b="1">
                <a:solidFill>
                  <a:srgbClr val="43A047"/>
                </a:solidFill>
              </a:defRPr>
            </a:pPr>
            <a:r>
              <a:rPr dirty="0"/>
              <a:t>5. </a:t>
            </a:r>
            <a:r>
              <a:rPr dirty="0" err="1"/>
              <a:t>Sistem</a:t>
            </a:r>
            <a:r>
              <a:rPr dirty="0"/>
              <a:t> Proses</a:t>
            </a:r>
          </a:p>
          <a:p>
            <a:pPr lvl="1">
              <a:defRPr sz="1300">
                <a:solidFill>
                  <a:srgbClr val="616161"/>
                </a:solidFill>
              </a:defRPr>
            </a:pPr>
            <a:r>
              <a:rPr dirty="0"/>
              <a:t>   </a:t>
            </a:r>
            <a:r>
              <a:rPr dirty="0" err="1"/>
              <a:t>Simpan</a:t>
            </a:r>
            <a:r>
              <a:rPr dirty="0"/>
              <a:t> </a:t>
            </a:r>
            <a:r>
              <a:rPr dirty="0" err="1"/>
              <a:t>ke</a:t>
            </a:r>
            <a:r>
              <a:rPr dirty="0"/>
              <a:t> </a:t>
            </a:r>
            <a:r>
              <a:rPr dirty="0" err="1"/>
              <a:t>tabel</a:t>
            </a:r>
            <a:r>
              <a:rPr dirty="0"/>
              <a:t> VOTES (</a:t>
            </a:r>
            <a:r>
              <a:rPr dirty="0" err="1"/>
              <a:t>user_id</a:t>
            </a:r>
            <a:r>
              <a:rPr dirty="0"/>
              <a:t>, </a:t>
            </a:r>
            <a:r>
              <a:rPr dirty="0" err="1"/>
              <a:t>kandidat_id</a:t>
            </a:r>
            <a:r>
              <a:rPr dirty="0"/>
              <a:t>)</a:t>
            </a:r>
          </a:p>
          <a:p>
            <a:pPr>
              <a:spcBef>
                <a:spcPts val="800"/>
              </a:spcBef>
              <a:defRPr sz="1600" b="1">
                <a:solidFill>
                  <a:srgbClr val="43A047"/>
                </a:solidFill>
              </a:defRPr>
            </a:pPr>
            <a:r>
              <a:rPr dirty="0"/>
              <a:t>6. Update Status</a:t>
            </a:r>
          </a:p>
          <a:p>
            <a:pPr lvl="1">
              <a:defRPr sz="1300">
                <a:solidFill>
                  <a:srgbClr val="616161"/>
                </a:solidFill>
              </a:defRPr>
            </a:pPr>
            <a:r>
              <a:rPr dirty="0"/>
              <a:t>   Update </a:t>
            </a:r>
            <a:r>
              <a:rPr dirty="0" err="1"/>
              <a:t>mahasiswa_profiles</a:t>
            </a:r>
            <a:r>
              <a:rPr dirty="0"/>
              <a:t>: </a:t>
            </a:r>
            <a:r>
              <a:rPr dirty="0" err="1"/>
              <a:t>has_voted</a:t>
            </a:r>
            <a:r>
              <a:rPr dirty="0"/>
              <a:t>=true, </a:t>
            </a:r>
            <a:r>
              <a:rPr dirty="0" err="1"/>
              <a:t>voted_at</a:t>
            </a:r>
            <a:r>
              <a:rPr dirty="0"/>
              <a:t>=now()</a:t>
            </a:r>
          </a:p>
          <a:p>
            <a:pPr>
              <a:spcBef>
                <a:spcPts val="800"/>
              </a:spcBef>
              <a:defRPr sz="1600" b="1">
                <a:solidFill>
                  <a:srgbClr val="43A047"/>
                </a:solidFill>
              </a:defRPr>
            </a:pPr>
            <a:r>
              <a:rPr dirty="0"/>
              <a:t>7. Destroy Session</a:t>
            </a:r>
          </a:p>
          <a:p>
            <a:pPr lvl="1">
              <a:defRPr sz="1300">
                <a:solidFill>
                  <a:srgbClr val="616161"/>
                </a:solidFill>
              </a:defRPr>
            </a:pPr>
            <a:r>
              <a:rPr dirty="0"/>
              <a:t>   Hapus session </a:t>
            </a:r>
            <a:r>
              <a:rPr dirty="0" err="1"/>
              <a:t>mahasiswa</a:t>
            </a:r>
            <a:endParaRPr dirty="0"/>
          </a:p>
          <a:p>
            <a:pPr>
              <a:spcBef>
                <a:spcPts val="800"/>
              </a:spcBef>
              <a:defRPr sz="1600" b="1">
                <a:solidFill>
                  <a:srgbClr val="43A047"/>
                </a:solidFill>
              </a:defRPr>
            </a:pPr>
            <a:r>
              <a:rPr dirty="0"/>
              <a:t>8. Redirect Chart</a:t>
            </a:r>
          </a:p>
          <a:p>
            <a:pPr lvl="1">
              <a:defRPr sz="1300">
                <a:solidFill>
                  <a:srgbClr val="616161"/>
                </a:solidFill>
              </a:defRPr>
            </a:pPr>
            <a:r>
              <a:rPr dirty="0"/>
              <a:t>   </a:t>
            </a:r>
            <a:r>
              <a:rPr dirty="0" err="1"/>
              <a:t>Arahkan</a:t>
            </a:r>
            <a:r>
              <a:rPr dirty="0"/>
              <a:t> </a:t>
            </a:r>
            <a:r>
              <a:rPr dirty="0" err="1"/>
              <a:t>ke</a:t>
            </a:r>
            <a:r>
              <a:rPr dirty="0"/>
              <a:t> </a:t>
            </a:r>
            <a:r>
              <a:rPr dirty="0" err="1"/>
              <a:t>halaman</a:t>
            </a:r>
            <a:r>
              <a:rPr dirty="0"/>
              <a:t> </a:t>
            </a:r>
            <a:r>
              <a:rPr dirty="0" err="1"/>
              <a:t>hasil</a:t>
            </a:r>
            <a:r>
              <a:rPr dirty="0"/>
              <a:t> (/chart)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565C0"/>
                </a:solidFill>
              </a:defRPr>
            </a:pPr>
            <a:r>
              <a:t>ALUR ADMIN: LOGIN &amp;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500"/>
              </a:spcBef>
              <a:defRPr sz="2000" b="1">
                <a:solidFill>
                  <a:srgbClr val="1565C0"/>
                </a:solidFill>
              </a:defRPr>
            </a:pPr>
            <a:r>
              <a:rPr dirty="0"/>
              <a:t>LOGIN</a:t>
            </a:r>
          </a:p>
          <a:p>
            <a:pPr lvl="1">
              <a:spcBef>
                <a:spcPts val="500"/>
              </a:spcBef>
              <a:defRPr sz="1400"/>
            </a:pPr>
            <a:r>
              <a:rPr dirty="0"/>
              <a:t>1. Akses </a:t>
            </a:r>
            <a:r>
              <a:rPr dirty="0" err="1"/>
              <a:t>halaman</a:t>
            </a:r>
            <a:r>
              <a:rPr dirty="0"/>
              <a:t> /login</a:t>
            </a:r>
          </a:p>
          <a:p>
            <a:pPr lvl="1">
              <a:spcBef>
                <a:spcPts val="500"/>
              </a:spcBef>
              <a:defRPr sz="1400"/>
            </a:pPr>
            <a:r>
              <a:rPr dirty="0"/>
              <a:t>2. Input email &amp; password admin</a:t>
            </a:r>
          </a:p>
          <a:p>
            <a:pPr lvl="1">
              <a:spcBef>
                <a:spcPts val="500"/>
              </a:spcBef>
              <a:defRPr sz="1400"/>
            </a:pPr>
            <a:r>
              <a:rPr dirty="0"/>
              <a:t>3. </a:t>
            </a:r>
            <a:r>
              <a:rPr dirty="0" err="1"/>
              <a:t>Sistem</a:t>
            </a:r>
            <a:r>
              <a:rPr dirty="0"/>
              <a:t> </a:t>
            </a:r>
            <a:r>
              <a:rPr dirty="0" err="1"/>
              <a:t>validasi</a:t>
            </a:r>
            <a:r>
              <a:rPr dirty="0"/>
              <a:t> di </a:t>
            </a:r>
            <a:r>
              <a:rPr dirty="0" err="1"/>
              <a:t>tabel</a:t>
            </a:r>
            <a:r>
              <a:rPr dirty="0"/>
              <a:t> USERS (role='admin')</a:t>
            </a:r>
          </a:p>
          <a:p>
            <a:pPr lvl="1">
              <a:spcBef>
                <a:spcPts val="500"/>
              </a:spcBef>
              <a:defRPr sz="1400"/>
            </a:pPr>
            <a:r>
              <a:rPr dirty="0"/>
              <a:t>4. Cek </a:t>
            </a:r>
            <a:r>
              <a:rPr dirty="0" err="1"/>
              <a:t>is_active</a:t>
            </a:r>
            <a:r>
              <a:rPr dirty="0"/>
              <a:t> = true</a:t>
            </a:r>
          </a:p>
          <a:p>
            <a:pPr lvl="1">
              <a:spcBef>
                <a:spcPts val="500"/>
              </a:spcBef>
              <a:defRPr sz="1400"/>
            </a:pPr>
            <a:r>
              <a:rPr dirty="0"/>
              <a:t>5. Create authenticated session</a:t>
            </a:r>
          </a:p>
          <a:p>
            <a:pPr lvl="1">
              <a:spcBef>
                <a:spcPts val="500"/>
              </a:spcBef>
              <a:defRPr sz="1400"/>
            </a:pPr>
            <a:r>
              <a:rPr dirty="0"/>
              <a:t>6. Update </a:t>
            </a:r>
            <a:r>
              <a:rPr dirty="0" err="1"/>
              <a:t>last_login</a:t>
            </a:r>
            <a:r>
              <a:rPr dirty="0"/>
              <a:t> timestamp</a:t>
            </a:r>
          </a:p>
          <a:p>
            <a:pPr lvl="1">
              <a:spcBef>
                <a:spcPts val="500"/>
              </a:spcBef>
              <a:defRPr sz="1400"/>
            </a:pPr>
            <a:r>
              <a:rPr dirty="0"/>
              <a:t>7. Redirect </a:t>
            </a:r>
            <a:r>
              <a:rPr dirty="0" err="1"/>
              <a:t>ke</a:t>
            </a:r>
            <a:r>
              <a:rPr dirty="0"/>
              <a:t> /dashboard</a:t>
            </a:r>
          </a:p>
          <a:p>
            <a:pPr>
              <a:spcBef>
                <a:spcPts val="1500"/>
              </a:spcBef>
              <a:defRPr sz="2000" b="1">
                <a:solidFill>
                  <a:srgbClr val="1565C0"/>
                </a:solidFill>
              </a:defRPr>
            </a:pPr>
            <a:r>
              <a:rPr dirty="0"/>
              <a:t>DASHBOARD</a:t>
            </a:r>
          </a:p>
          <a:p>
            <a:pPr lvl="1">
              <a:spcBef>
                <a:spcPts val="500"/>
              </a:spcBef>
              <a:defRPr sz="1400"/>
            </a:pPr>
            <a:r>
              <a:rPr dirty="0"/>
              <a:t>• </a:t>
            </a:r>
            <a:r>
              <a:rPr dirty="0" err="1"/>
              <a:t>Statistik</a:t>
            </a:r>
            <a:r>
              <a:rPr dirty="0"/>
              <a:t> total </a:t>
            </a:r>
            <a:r>
              <a:rPr dirty="0" err="1"/>
              <a:t>mahasiswa</a:t>
            </a:r>
            <a:r>
              <a:rPr dirty="0"/>
              <a:t>, </a:t>
            </a:r>
            <a:r>
              <a:rPr dirty="0" err="1"/>
              <a:t>kandidat</a:t>
            </a:r>
            <a:r>
              <a:rPr dirty="0"/>
              <a:t>, </a:t>
            </a:r>
            <a:r>
              <a:rPr dirty="0" err="1"/>
              <a:t>suara</a:t>
            </a:r>
            <a:r>
              <a:rPr dirty="0"/>
              <a:t> </a:t>
            </a:r>
            <a:r>
              <a:rPr dirty="0" err="1"/>
              <a:t>masuk</a:t>
            </a:r>
            <a:endParaRPr dirty="0"/>
          </a:p>
          <a:p>
            <a:pPr lvl="1">
              <a:spcBef>
                <a:spcPts val="500"/>
              </a:spcBef>
              <a:defRPr sz="1400"/>
            </a:pPr>
            <a:r>
              <a:rPr dirty="0"/>
              <a:t>• </a:t>
            </a:r>
            <a:r>
              <a:rPr dirty="0" err="1"/>
              <a:t>Grafik</a:t>
            </a:r>
            <a:r>
              <a:rPr dirty="0"/>
              <a:t> real-time </a:t>
            </a:r>
            <a:r>
              <a:rPr dirty="0" err="1"/>
              <a:t>hasil</a:t>
            </a:r>
            <a:r>
              <a:rPr dirty="0"/>
              <a:t> voting</a:t>
            </a:r>
          </a:p>
          <a:p>
            <a:pPr lvl="1">
              <a:spcBef>
                <a:spcPts val="500"/>
              </a:spcBef>
              <a:defRPr sz="1400"/>
            </a:pPr>
            <a:r>
              <a:rPr dirty="0"/>
              <a:t>• Quick actions (</a:t>
            </a:r>
            <a:r>
              <a:rPr dirty="0" err="1"/>
              <a:t>tambah</a:t>
            </a:r>
            <a:r>
              <a:rPr dirty="0"/>
              <a:t> </a:t>
            </a:r>
            <a:r>
              <a:rPr dirty="0" err="1"/>
              <a:t>kandidat</a:t>
            </a:r>
            <a:r>
              <a:rPr dirty="0"/>
              <a:t>, </a:t>
            </a:r>
            <a:r>
              <a:rPr dirty="0" err="1"/>
              <a:t>mahasiswa</a:t>
            </a:r>
            <a:r>
              <a:rPr dirty="0"/>
              <a:t>)</a:t>
            </a:r>
          </a:p>
          <a:p>
            <a:pPr lvl="1">
              <a:spcBef>
                <a:spcPts val="500"/>
              </a:spcBef>
              <a:defRPr sz="1400"/>
            </a:pPr>
            <a:r>
              <a:rPr dirty="0"/>
              <a:t>• Menu </a:t>
            </a:r>
            <a:r>
              <a:rPr dirty="0" err="1"/>
              <a:t>navigasi</a:t>
            </a:r>
            <a:r>
              <a:rPr dirty="0"/>
              <a:t> </a:t>
            </a:r>
            <a:r>
              <a:rPr dirty="0" err="1"/>
              <a:t>lengkap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565C0"/>
                </a:solidFill>
              </a:defRPr>
            </a:pPr>
            <a:r>
              <a:t>ALUR ADMIN: MANAJEMEN KANDIDAT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  <a:defRPr sz="1600" b="1">
                <a:solidFill>
                  <a:srgbClr val="1565C0"/>
                </a:solidFill>
              </a:defRPr>
            </a:pPr>
            <a:r>
              <a:rPr dirty="0"/>
              <a:t>📋 LIHAT (INDEX)</a:t>
            </a:r>
          </a:p>
          <a:p>
            <a:pPr lvl="1">
              <a:spcBef>
                <a:spcPts val="300"/>
              </a:spcBef>
              <a:defRPr sz="1200"/>
            </a:pPr>
            <a:r>
              <a:rPr dirty="0"/>
              <a:t>  • /admin/</a:t>
            </a:r>
            <a:r>
              <a:rPr dirty="0" err="1"/>
              <a:t>kandidat</a:t>
            </a:r>
            <a:r>
              <a:rPr dirty="0"/>
              <a:t> → </a:t>
            </a:r>
            <a:r>
              <a:rPr dirty="0" err="1"/>
              <a:t>tampilkan</a:t>
            </a:r>
            <a:r>
              <a:rPr dirty="0"/>
              <a:t> </a:t>
            </a:r>
            <a:r>
              <a:rPr dirty="0" err="1"/>
              <a:t>semua</a:t>
            </a:r>
            <a:r>
              <a:rPr dirty="0"/>
              <a:t> </a:t>
            </a:r>
            <a:r>
              <a:rPr dirty="0" err="1"/>
              <a:t>kandidat</a:t>
            </a:r>
            <a:endParaRPr dirty="0"/>
          </a:p>
          <a:p>
            <a:pPr lvl="1">
              <a:spcBef>
                <a:spcPts val="300"/>
              </a:spcBef>
              <a:defRPr sz="1200"/>
            </a:pPr>
            <a:r>
              <a:rPr dirty="0"/>
              <a:t>  • Tabel </a:t>
            </a:r>
            <a:r>
              <a:rPr dirty="0" err="1"/>
              <a:t>dengan</a:t>
            </a:r>
            <a:r>
              <a:rPr dirty="0"/>
              <a:t> </a:t>
            </a:r>
            <a:r>
              <a:rPr dirty="0" err="1"/>
              <a:t>foto</a:t>
            </a:r>
            <a:r>
              <a:rPr dirty="0"/>
              <a:t>, nama, </a:t>
            </a:r>
            <a:r>
              <a:rPr dirty="0" err="1"/>
              <a:t>visi</a:t>
            </a:r>
            <a:r>
              <a:rPr dirty="0"/>
              <a:t>, </a:t>
            </a:r>
            <a:r>
              <a:rPr dirty="0" err="1"/>
              <a:t>misi</a:t>
            </a:r>
            <a:r>
              <a:rPr dirty="0"/>
              <a:t>, </a:t>
            </a:r>
            <a:r>
              <a:rPr dirty="0" err="1"/>
              <a:t>jumlah</a:t>
            </a:r>
            <a:r>
              <a:rPr dirty="0"/>
              <a:t> </a:t>
            </a:r>
            <a:r>
              <a:rPr dirty="0" err="1"/>
              <a:t>suara</a:t>
            </a:r>
            <a:endParaRPr dirty="0"/>
          </a:p>
          <a:p>
            <a:pPr lvl="1">
              <a:spcBef>
                <a:spcPts val="300"/>
              </a:spcBef>
              <a:defRPr sz="1200"/>
            </a:pPr>
            <a:r>
              <a:rPr dirty="0"/>
              <a:t>  • </a:t>
            </a:r>
            <a:r>
              <a:rPr dirty="0" err="1"/>
              <a:t>Tombol</a:t>
            </a:r>
            <a:r>
              <a:rPr dirty="0"/>
              <a:t> Edit &amp; Delete per </a:t>
            </a:r>
            <a:r>
              <a:rPr dirty="0" err="1"/>
              <a:t>kandidat</a:t>
            </a:r>
            <a:endParaRPr dirty="0"/>
          </a:p>
          <a:p>
            <a:pPr>
              <a:spcBef>
                <a:spcPts val="1200"/>
              </a:spcBef>
              <a:defRPr sz="1600" b="1">
                <a:solidFill>
                  <a:srgbClr val="1565C0"/>
                </a:solidFill>
              </a:defRPr>
            </a:pPr>
            <a:r>
              <a:rPr dirty="0"/>
              <a:t>➕ TAMBAH (CREATE)</a:t>
            </a:r>
          </a:p>
          <a:p>
            <a:pPr lvl="1">
              <a:spcBef>
                <a:spcPts val="300"/>
              </a:spcBef>
              <a:defRPr sz="1200"/>
            </a:pPr>
            <a:r>
              <a:rPr dirty="0"/>
              <a:t>  • /admin/</a:t>
            </a:r>
            <a:r>
              <a:rPr dirty="0" err="1"/>
              <a:t>kandidat</a:t>
            </a:r>
            <a:r>
              <a:rPr dirty="0"/>
              <a:t>/create → form input</a:t>
            </a:r>
          </a:p>
          <a:p>
            <a:pPr lvl="1">
              <a:spcBef>
                <a:spcPts val="300"/>
              </a:spcBef>
              <a:defRPr sz="1200"/>
            </a:pPr>
            <a:r>
              <a:rPr dirty="0"/>
              <a:t>  • Input: Nama, Visi, Misi, Upload Foto</a:t>
            </a:r>
          </a:p>
          <a:p>
            <a:pPr lvl="1">
              <a:spcBef>
                <a:spcPts val="300"/>
              </a:spcBef>
              <a:defRPr sz="1200"/>
            </a:pPr>
            <a:r>
              <a:rPr dirty="0"/>
              <a:t>  • </a:t>
            </a:r>
            <a:r>
              <a:rPr dirty="0" err="1"/>
              <a:t>Validasi</a:t>
            </a:r>
            <a:r>
              <a:rPr dirty="0"/>
              <a:t> &amp; </a:t>
            </a:r>
            <a:r>
              <a:rPr dirty="0" err="1"/>
              <a:t>simpan</a:t>
            </a:r>
            <a:r>
              <a:rPr dirty="0"/>
              <a:t> </a:t>
            </a:r>
            <a:r>
              <a:rPr dirty="0" err="1"/>
              <a:t>ke</a:t>
            </a:r>
            <a:r>
              <a:rPr dirty="0"/>
              <a:t> </a:t>
            </a:r>
            <a:r>
              <a:rPr dirty="0" err="1"/>
              <a:t>tabel</a:t>
            </a:r>
            <a:r>
              <a:rPr dirty="0"/>
              <a:t> KANDIDATS</a:t>
            </a:r>
          </a:p>
          <a:p>
            <a:pPr lvl="1">
              <a:spcBef>
                <a:spcPts val="300"/>
              </a:spcBef>
              <a:defRPr sz="1200"/>
            </a:pPr>
            <a:r>
              <a:rPr dirty="0"/>
              <a:t>  • Upload </a:t>
            </a:r>
            <a:r>
              <a:rPr dirty="0" err="1"/>
              <a:t>foto</a:t>
            </a:r>
            <a:r>
              <a:rPr dirty="0"/>
              <a:t> </a:t>
            </a:r>
            <a:r>
              <a:rPr dirty="0" err="1"/>
              <a:t>ke</a:t>
            </a:r>
            <a:r>
              <a:rPr dirty="0"/>
              <a:t> storage/app/public/</a:t>
            </a:r>
            <a:r>
              <a:rPr dirty="0" err="1"/>
              <a:t>kandidat</a:t>
            </a:r>
            <a:endParaRPr dirty="0"/>
          </a:p>
          <a:p>
            <a:pPr>
              <a:spcBef>
                <a:spcPts val="1200"/>
              </a:spcBef>
              <a:defRPr sz="1600" b="1">
                <a:solidFill>
                  <a:srgbClr val="1565C0"/>
                </a:solidFill>
              </a:defRPr>
            </a:pPr>
            <a:r>
              <a:rPr dirty="0"/>
              <a:t>✏️ EDIT (UPDATE)</a:t>
            </a:r>
          </a:p>
          <a:p>
            <a:pPr lvl="1">
              <a:spcBef>
                <a:spcPts val="300"/>
              </a:spcBef>
              <a:defRPr sz="1200"/>
            </a:pPr>
            <a:r>
              <a:rPr dirty="0"/>
              <a:t>  • /admin/</a:t>
            </a:r>
            <a:r>
              <a:rPr dirty="0" err="1"/>
              <a:t>kandidat</a:t>
            </a:r>
            <a:r>
              <a:rPr dirty="0"/>
              <a:t>/{id}/edit → load data </a:t>
            </a:r>
            <a:r>
              <a:rPr dirty="0" err="1"/>
              <a:t>kandidat</a:t>
            </a:r>
            <a:endParaRPr dirty="0"/>
          </a:p>
          <a:p>
            <a:pPr lvl="1">
              <a:spcBef>
                <a:spcPts val="300"/>
              </a:spcBef>
              <a:defRPr sz="1200"/>
            </a:pPr>
            <a:r>
              <a:rPr dirty="0"/>
              <a:t>  • Update data </a:t>
            </a:r>
            <a:r>
              <a:rPr dirty="0" err="1"/>
              <a:t>kandidat</a:t>
            </a:r>
            <a:r>
              <a:rPr dirty="0"/>
              <a:t> yang </a:t>
            </a:r>
            <a:r>
              <a:rPr dirty="0" err="1"/>
              <a:t>dipilih</a:t>
            </a:r>
            <a:endParaRPr dirty="0"/>
          </a:p>
          <a:p>
            <a:pPr lvl="1">
              <a:spcBef>
                <a:spcPts val="300"/>
              </a:spcBef>
              <a:defRPr sz="1200"/>
            </a:pPr>
            <a:r>
              <a:rPr dirty="0"/>
              <a:t>  • </a:t>
            </a:r>
            <a:r>
              <a:rPr dirty="0" err="1"/>
              <a:t>Opsi</a:t>
            </a:r>
            <a:r>
              <a:rPr dirty="0"/>
              <a:t> </a:t>
            </a:r>
            <a:r>
              <a:rPr dirty="0" err="1"/>
              <a:t>ganti</a:t>
            </a:r>
            <a:r>
              <a:rPr dirty="0"/>
              <a:t> </a:t>
            </a:r>
            <a:r>
              <a:rPr dirty="0" err="1"/>
              <a:t>foto</a:t>
            </a:r>
            <a:r>
              <a:rPr dirty="0"/>
              <a:t> </a:t>
            </a:r>
            <a:r>
              <a:rPr dirty="0" err="1"/>
              <a:t>kandidat</a:t>
            </a:r>
            <a:endParaRPr dirty="0"/>
          </a:p>
          <a:p>
            <a:pPr>
              <a:spcBef>
                <a:spcPts val="1200"/>
              </a:spcBef>
              <a:defRPr sz="1600" b="1">
                <a:solidFill>
                  <a:srgbClr val="1565C0"/>
                </a:solidFill>
              </a:defRPr>
            </a:pPr>
            <a:r>
              <a:rPr dirty="0"/>
              <a:t>🗑️ HAPUS (DELETE)</a:t>
            </a:r>
          </a:p>
          <a:p>
            <a:pPr lvl="1">
              <a:spcBef>
                <a:spcPts val="300"/>
              </a:spcBef>
              <a:defRPr sz="1200"/>
            </a:pPr>
            <a:r>
              <a:rPr dirty="0"/>
              <a:t>  • </a:t>
            </a:r>
            <a:r>
              <a:rPr dirty="0" err="1"/>
              <a:t>Konfirmasi</a:t>
            </a:r>
            <a:r>
              <a:rPr dirty="0"/>
              <a:t> </a:t>
            </a:r>
            <a:r>
              <a:rPr dirty="0" err="1"/>
              <a:t>penghapusan</a:t>
            </a:r>
            <a:endParaRPr dirty="0"/>
          </a:p>
          <a:p>
            <a:pPr lvl="1">
              <a:spcBef>
                <a:spcPts val="300"/>
              </a:spcBef>
              <a:defRPr sz="1200"/>
            </a:pPr>
            <a:r>
              <a:rPr dirty="0"/>
              <a:t>  • Hapus </a:t>
            </a:r>
            <a:r>
              <a:rPr dirty="0" err="1"/>
              <a:t>foto</a:t>
            </a:r>
            <a:r>
              <a:rPr dirty="0"/>
              <a:t> </a:t>
            </a:r>
            <a:r>
              <a:rPr dirty="0" err="1"/>
              <a:t>dari</a:t>
            </a:r>
            <a:r>
              <a:rPr dirty="0"/>
              <a:t> storage</a:t>
            </a:r>
          </a:p>
          <a:p>
            <a:pPr lvl="1">
              <a:spcBef>
                <a:spcPts val="300"/>
              </a:spcBef>
              <a:defRPr sz="1200"/>
            </a:pPr>
            <a:r>
              <a:rPr dirty="0"/>
              <a:t>  • Hapus record </a:t>
            </a:r>
            <a:r>
              <a:rPr dirty="0" err="1"/>
              <a:t>dari</a:t>
            </a:r>
            <a:r>
              <a:rPr dirty="0"/>
              <a:t> database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565C0"/>
                </a:solidFill>
              </a:defRPr>
            </a:pPr>
            <a:r>
              <a:t>ALUR ADMIN: MANAJEMEN MAHASISWA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000"/>
              </a:spcBef>
              <a:defRPr sz="1500" b="1">
                <a:solidFill>
                  <a:srgbClr val="1565C0"/>
                </a:solidFill>
              </a:defRPr>
            </a:pPr>
            <a:r>
              <a:rPr dirty="0"/>
              <a:t>📋 LIHAT &amp; FILTER</a:t>
            </a:r>
          </a:p>
          <a:p>
            <a:pPr lvl="1">
              <a:spcBef>
                <a:spcPts val="200"/>
              </a:spcBef>
              <a:defRPr sz="1100"/>
            </a:pPr>
            <a:r>
              <a:rPr dirty="0"/>
              <a:t>  • Tabel </a:t>
            </a:r>
            <a:r>
              <a:rPr dirty="0" err="1"/>
              <a:t>semua</a:t>
            </a:r>
            <a:r>
              <a:rPr dirty="0"/>
              <a:t> </a:t>
            </a:r>
            <a:r>
              <a:rPr dirty="0" err="1"/>
              <a:t>mahasiswa</a:t>
            </a:r>
            <a:r>
              <a:rPr dirty="0"/>
              <a:t> </a:t>
            </a:r>
            <a:r>
              <a:rPr dirty="0" err="1"/>
              <a:t>dengan</a:t>
            </a:r>
            <a:r>
              <a:rPr dirty="0"/>
              <a:t> NIM, nama, </a:t>
            </a:r>
            <a:r>
              <a:rPr dirty="0" err="1"/>
              <a:t>prodi</a:t>
            </a:r>
            <a:r>
              <a:rPr dirty="0"/>
              <a:t>, </a:t>
            </a:r>
            <a:r>
              <a:rPr dirty="0" err="1"/>
              <a:t>angkatan</a:t>
            </a:r>
            <a:endParaRPr dirty="0"/>
          </a:p>
          <a:p>
            <a:pPr lvl="1">
              <a:spcBef>
                <a:spcPts val="200"/>
              </a:spcBef>
              <a:defRPr sz="1100"/>
            </a:pPr>
            <a:r>
              <a:rPr dirty="0"/>
              <a:t>  • Status voting (</a:t>
            </a:r>
            <a:r>
              <a:rPr dirty="0" err="1"/>
              <a:t>sudah</a:t>
            </a:r>
            <a:r>
              <a:rPr dirty="0"/>
              <a:t>/</a:t>
            </a:r>
            <a:r>
              <a:rPr dirty="0" err="1"/>
              <a:t>belum</a:t>
            </a:r>
            <a:r>
              <a:rPr dirty="0"/>
              <a:t>)</a:t>
            </a:r>
          </a:p>
          <a:p>
            <a:pPr lvl="1">
              <a:spcBef>
                <a:spcPts val="200"/>
              </a:spcBef>
              <a:defRPr sz="1100"/>
            </a:pPr>
            <a:r>
              <a:rPr dirty="0"/>
              <a:t>  • Filter &amp; search functionality</a:t>
            </a:r>
          </a:p>
          <a:p>
            <a:pPr>
              <a:spcBef>
                <a:spcPts val="1000"/>
              </a:spcBef>
              <a:defRPr sz="1500" b="1">
                <a:solidFill>
                  <a:srgbClr val="1565C0"/>
                </a:solidFill>
              </a:defRPr>
            </a:pPr>
            <a:r>
              <a:rPr dirty="0"/>
              <a:t>➕ TAMBAH MANUAL</a:t>
            </a:r>
          </a:p>
          <a:p>
            <a:pPr lvl="1">
              <a:spcBef>
                <a:spcPts val="200"/>
              </a:spcBef>
              <a:defRPr sz="1100"/>
            </a:pPr>
            <a:r>
              <a:rPr dirty="0"/>
              <a:t>  • Form input data </a:t>
            </a:r>
            <a:r>
              <a:rPr dirty="0" err="1"/>
              <a:t>mahasiswa</a:t>
            </a:r>
            <a:r>
              <a:rPr dirty="0"/>
              <a:t> </a:t>
            </a:r>
            <a:r>
              <a:rPr dirty="0" err="1"/>
              <a:t>lengkap</a:t>
            </a:r>
            <a:endParaRPr dirty="0"/>
          </a:p>
          <a:p>
            <a:pPr lvl="1">
              <a:spcBef>
                <a:spcPts val="200"/>
              </a:spcBef>
              <a:defRPr sz="1100"/>
            </a:pPr>
            <a:r>
              <a:rPr dirty="0"/>
              <a:t>  • Auto-generate user account (email, password)</a:t>
            </a:r>
          </a:p>
          <a:p>
            <a:pPr lvl="1">
              <a:spcBef>
                <a:spcPts val="200"/>
              </a:spcBef>
              <a:defRPr sz="1100"/>
            </a:pPr>
            <a:r>
              <a:rPr dirty="0"/>
              <a:t>  • Create </a:t>
            </a:r>
            <a:r>
              <a:rPr dirty="0" err="1"/>
              <a:t>mahasiswa_profile</a:t>
            </a:r>
            <a:endParaRPr dirty="0"/>
          </a:p>
          <a:p>
            <a:pPr>
              <a:spcBef>
                <a:spcPts val="1000"/>
              </a:spcBef>
              <a:defRPr sz="1500" b="1">
                <a:solidFill>
                  <a:srgbClr val="1565C0"/>
                </a:solidFill>
              </a:defRPr>
            </a:pPr>
            <a:r>
              <a:rPr dirty="0"/>
              <a:t>📥 IMPORT CSV</a:t>
            </a:r>
          </a:p>
          <a:p>
            <a:pPr lvl="1">
              <a:spcBef>
                <a:spcPts val="200"/>
              </a:spcBef>
              <a:defRPr sz="1100"/>
            </a:pPr>
            <a:r>
              <a:rPr dirty="0"/>
              <a:t>  • Download template CSV</a:t>
            </a:r>
          </a:p>
          <a:p>
            <a:pPr lvl="1">
              <a:spcBef>
                <a:spcPts val="200"/>
              </a:spcBef>
              <a:defRPr sz="1100"/>
            </a:pPr>
            <a:r>
              <a:rPr dirty="0"/>
              <a:t>  • Upload file CSV </a:t>
            </a:r>
            <a:r>
              <a:rPr dirty="0" err="1"/>
              <a:t>dengan</a:t>
            </a:r>
            <a:r>
              <a:rPr dirty="0"/>
              <a:t> data </a:t>
            </a:r>
            <a:r>
              <a:rPr dirty="0" err="1"/>
              <a:t>mahasiswa</a:t>
            </a:r>
            <a:r>
              <a:rPr dirty="0"/>
              <a:t> bulk</a:t>
            </a:r>
          </a:p>
          <a:p>
            <a:pPr lvl="1">
              <a:spcBef>
                <a:spcPts val="200"/>
              </a:spcBef>
              <a:defRPr sz="1100"/>
            </a:pPr>
            <a:r>
              <a:rPr dirty="0"/>
              <a:t>  • </a:t>
            </a:r>
            <a:r>
              <a:rPr dirty="0" err="1"/>
              <a:t>Validasi</a:t>
            </a:r>
            <a:r>
              <a:rPr dirty="0"/>
              <a:t> &amp; insert </a:t>
            </a:r>
            <a:r>
              <a:rPr dirty="0" err="1"/>
              <a:t>ke</a:t>
            </a:r>
            <a:r>
              <a:rPr dirty="0"/>
              <a:t> database</a:t>
            </a:r>
          </a:p>
          <a:p>
            <a:pPr lvl="1">
              <a:spcBef>
                <a:spcPts val="200"/>
              </a:spcBef>
              <a:defRPr sz="1100"/>
            </a:pPr>
            <a:r>
              <a:rPr dirty="0"/>
              <a:t>  • Report </a:t>
            </a:r>
            <a:r>
              <a:rPr dirty="0" err="1"/>
              <a:t>hasil</a:t>
            </a:r>
            <a:r>
              <a:rPr dirty="0"/>
              <a:t> import (success/failed)</a:t>
            </a:r>
          </a:p>
          <a:p>
            <a:pPr>
              <a:spcBef>
                <a:spcPts val="1000"/>
              </a:spcBef>
              <a:defRPr sz="1500" b="1">
                <a:solidFill>
                  <a:srgbClr val="1565C0"/>
                </a:solidFill>
              </a:defRPr>
            </a:pPr>
            <a:r>
              <a:rPr dirty="0"/>
              <a:t>📤 EXPORT CSV</a:t>
            </a:r>
          </a:p>
          <a:p>
            <a:pPr lvl="1">
              <a:spcBef>
                <a:spcPts val="200"/>
              </a:spcBef>
              <a:defRPr sz="1100"/>
            </a:pPr>
            <a:r>
              <a:rPr dirty="0"/>
              <a:t>  • Export </a:t>
            </a:r>
            <a:r>
              <a:rPr dirty="0" err="1"/>
              <a:t>semua</a:t>
            </a:r>
            <a:r>
              <a:rPr dirty="0"/>
              <a:t> data </a:t>
            </a:r>
            <a:r>
              <a:rPr dirty="0" err="1"/>
              <a:t>mahasiswa</a:t>
            </a:r>
            <a:r>
              <a:rPr dirty="0"/>
              <a:t> </a:t>
            </a:r>
            <a:r>
              <a:rPr dirty="0" err="1"/>
              <a:t>ke</a:t>
            </a:r>
            <a:r>
              <a:rPr dirty="0"/>
              <a:t> CSV</a:t>
            </a:r>
          </a:p>
          <a:p>
            <a:pPr lvl="1">
              <a:spcBef>
                <a:spcPts val="200"/>
              </a:spcBef>
              <a:defRPr sz="1100"/>
            </a:pPr>
            <a:r>
              <a:rPr dirty="0"/>
              <a:t>  • Include status voting &amp; timestamp</a:t>
            </a:r>
          </a:p>
          <a:p>
            <a:pPr>
              <a:spcBef>
                <a:spcPts val="1000"/>
              </a:spcBef>
              <a:defRPr sz="1500" b="1">
                <a:solidFill>
                  <a:srgbClr val="1565C0"/>
                </a:solidFill>
              </a:defRPr>
            </a:pPr>
            <a:r>
              <a:rPr dirty="0"/>
              <a:t>🔄 TOGGLE STATUS</a:t>
            </a:r>
          </a:p>
          <a:p>
            <a:pPr lvl="1">
              <a:spcBef>
                <a:spcPts val="200"/>
              </a:spcBef>
              <a:defRPr sz="1100"/>
            </a:pPr>
            <a:r>
              <a:rPr dirty="0"/>
              <a:t>  • Enable/disable </a:t>
            </a:r>
            <a:r>
              <a:rPr dirty="0" err="1"/>
              <a:t>mahasiswa</a:t>
            </a:r>
            <a:r>
              <a:rPr dirty="0"/>
              <a:t> </a:t>
            </a:r>
            <a:r>
              <a:rPr dirty="0" err="1"/>
              <a:t>dari</a:t>
            </a:r>
            <a:r>
              <a:rPr dirty="0"/>
              <a:t> voting</a:t>
            </a:r>
          </a:p>
          <a:p>
            <a:pPr lvl="1">
              <a:spcBef>
                <a:spcPts val="200"/>
              </a:spcBef>
              <a:defRPr sz="1100"/>
            </a:pPr>
            <a:r>
              <a:rPr dirty="0"/>
              <a:t>  • Update field </a:t>
            </a:r>
            <a:r>
              <a:rPr dirty="0" err="1"/>
              <a:t>voting_enabled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591"/>
            <a:ext cx="8229600" cy="1143000"/>
          </a:xfrm>
        </p:spPr>
        <p:txBody>
          <a:bodyPr/>
          <a:lstStyle/>
          <a:p>
            <a:pPr>
              <a:defRPr sz="3600">
                <a:solidFill>
                  <a:srgbClr val="FB8C00"/>
                </a:solidFill>
              </a:defRPr>
            </a:pPr>
            <a:r>
              <a:rPr dirty="0"/>
              <a:t>ALUR VOTING LENGKAP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55315"/>
            <a:ext cx="8229600" cy="5934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1300" b="1">
                <a:solidFill>
                  <a:srgbClr val="FB8C00"/>
                </a:solidFill>
              </a:defRPr>
            </a:pPr>
            <a:r>
              <a:rPr dirty="0"/>
              <a:t>START → Landing Page</a:t>
            </a:r>
          </a:p>
          <a:p>
            <a:pPr>
              <a:spcBef>
                <a:spcPts val="200"/>
              </a:spcBef>
              <a:defRPr sz="1300"/>
            </a:pPr>
            <a:r>
              <a:rPr dirty="0"/>
              <a:t>  ↓</a:t>
            </a:r>
          </a:p>
          <a:p>
            <a:pPr>
              <a:spcBef>
                <a:spcPts val="200"/>
              </a:spcBef>
              <a:defRPr sz="1300" b="1">
                <a:solidFill>
                  <a:srgbClr val="FB8C00"/>
                </a:solidFill>
              </a:defRPr>
            </a:pPr>
            <a:r>
              <a:rPr dirty="0" err="1"/>
              <a:t>Mahasiswa</a:t>
            </a:r>
            <a:r>
              <a:rPr dirty="0"/>
              <a:t> </a:t>
            </a:r>
            <a:r>
              <a:rPr dirty="0" err="1"/>
              <a:t>Klik</a:t>
            </a:r>
            <a:r>
              <a:rPr dirty="0"/>
              <a:t> '</a:t>
            </a:r>
            <a:r>
              <a:rPr dirty="0" err="1"/>
              <a:t>Mahasiswa</a:t>
            </a:r>
            <a:r>
              <a:rPr dirty="0"/>
              <a:t>' → /</a:t>
            </a:r>
            <a:r>
              <a:rPr dirty="0" err="1"/>
              <a:t>verifikasi</a:t>
            </a:r>
            <a:endParaRPr dirty="0"/>
          </a:p>
          <a:p>
            <a:pPr>
              <a:spcBef>
                <a:spcPts val="200"/>
              </a:spcBef>
              <a:defRPr sz="1300"/>
            </a:pPr>
            <a:r>
              <a:rPr dirty="0"/>
              <a:t>  ↓</a:t>
            </a:r>
          </a:p>
          <a:p>
            <a:pPr>
              <a:spcBef>
                <a:spcPts val="200"/>
              </a:spcBef>
              <a:defRPr sz="1300" b="1">
                <a:solidFill>
                  <a:srgbClr val="FB8C00"/>
                </a:solidFill>
              </a:defRPr>
            </a:pPr>
            <a:r>
              <a:rPr dirty="0"/>
              <a:t>Input NIM &amp; Password → Submit Form</a:t>
            </a:r>
          </a:p>
          <a:p>
            <a:pPr>
              <a:spcBef>
                <a:spcPts val="200"/>
              </a:spcBef>
              <a:defRPr sz="1300"/>
            </a:pPr>
            <a:r>
              <a:rPr dirty="0"/>
              <a:t>  ↓</a:t>
            </a:r>
          </a:p>
          <a:p>
            <a:pPr>
              <a:spcBef>
                <a:spcPts val="200"/>
              </a:spcBef>
              <a:defRPr sz="1300"/>
            </a:pPr>
            <a:r>
              <a:rPr dirty="0" err="1"/>
              <a:t>Validasi</a:t>
            </a:r>
            <a:r>
              <a:rPr dirty="0"/>
              <a:t> </a:t>
            </a:r>
            <a:r>
              <a:rPr dirty="0" err="1"/>
              <a:t>Kredensial</a:t>
            </a:r>
            <a:r>
              <a:rPr dirty="0"/>
              <a:t> &amp; Status Voting</a:t>
            </a:r>
          </a:p>
          <a:p>
            <a:pPr>
              <a:spcBef>
                <a:spcPts val="200"/>
              </a:spcBef>
              <a:defRPr sz="1300"/>
            </a:pPr>
            <a:r>
              <a:rPr dirty="0"/>
              <a:t>  ↓                    ↓</a:t>
            </a:r>
          </a:p>
          <a:p>
            <a:pPr>
              <a:spcBef>
                <a:spcPts val="200"/>
              </a:spcBef>
              <a:defRPr sz="1300"/>
            </a:pPr>
            <a:r>
              <a:rPr dirty="0"/>
              <a:t>VALID               INVALID</a:t>
            </a:r>
          </a:p>
          <a:p>
            <a:pPr>
              <a:spcBef>
                <a:spcPts val="200"/>
              </a:spcBef>
              <a:defRPr sz="1300"/>
            </a:pPr>
            <a:r>
              <a:rPr dirty="0"/>
              <a:t>  ↓                    ↓</a:t>
            </a:r>
          </a:p>
          <a:p>
            <a:pPr>
              <a:spcBef>
                <a:spcPts val="200"/>
              </a:spcBef>
              <a:defRPr sz="1300"/>
            </a:pPr>
            <a:r>
              <a:rPr dirty="0"/>
              <a:t>Login Success       Error Message</a:t>
            </a:r>
          </a:p>
          <a:p>
            <a:pPr>
              <a:spcBef>
                <a:spcPts val="200"/>
              </a:spcBef>
              <a:defRPr sz="1300"/>
            </a:pPr>
            <a:r>
              <a:rPr dirty="0"/>
              <a:t>Session Created     (NIM salah / </a:t>
            </a:r>
            <a:r>
              <a:rPr dirty="0" err="1"/>
              <a:t>sudah</a:t>
            </a:r>
            <a:r>
              <a:rPr dirty="0"/>
              <a:t> voting)</a:t>
            </a:r>
          </a:p>
          <a:p>
            <a:pPr>
              <a:spcBef>
                <a:spcPts val="200"/>
              </a:spcBef>
              <a:defRPr sz="1300"/>
            </a:pPr>
            <a:r>
              <a:rPr dirty="0"/>
              <a:t>  ↓</a:t>
            </a:r>
          </a:p>
          <a:p>
            <a:pPr>
              <a:spcBef>
                <a:spcPts val="200"/>
              </a:spcBef>
              <a:defRPr sz="1300" b="1">
                <a:solidFill>
                  <a:srgbClr val="FB8C00"/>
                </a:solidFill>
              </a:defRPr>
            </a:pPr>
            <a:r>
              <a:rPr dirty="0"/>
              <a:t>/voting → </a:t>
            </a:r>
            <a:r>
              <a:rPr dirty="0" err="1"/>
              <a:t>Tampil</a:t>
            </a:r>
            <a:r>
              <a:rPr dirty="0"/>
              <a:t> Daftar </a:t>
            </a:r>
            <a:r>
              <a:rPr dirty="0" err="1"/>
              <a:t>Kandidat</a:t>
            </a:r>
            <a:endParaRPr dirty="0"/>
          </a:p>
          <a:p>
            <a:pPr>
              <a:spcBef>
                <a:spcPts val="200"/>
              </a:spcBef>
              <a:defRPr sz="1300"/>
            </a:pPr>
            <a:r>
              <a:rPr dirty="0"/>
              <a:t>  ↓</a:t>
            </a:r>
          </a:p>
          <a:p>
            <a:pPr>
              <a:spcBef>
                <a:spcPts val="200"/>
              </a:spcBef>
              <a:defRPr sz="1300" b="1">
                <a:solidFill>
                  <a:srgbClr val="FB8C00"/>
                </a:solidFill>
              </a:defRPr>
            </a:pPr>
            <a:r>
              <a:rPr dirty="0" err="1"/>
              <a:t>Pilih</a:t>
            </a:r>
            <a:r>
              <a:rPr dirty="0"/>
              <a:t> </a:t>
            </a:r>
            <a:r>
              <a:rPr dirty="0" err="1"/>
              <a:t>Kandidat</a:t>
            </a:r>
            <a:r>
              <a:rPr dirty="0"/>
              <a:t> → </a:t>
            </a:r>
            <a:r>
              <a:rPr dirty="0" err="1"/>
              <a:t>Konfirmasi</a:t>
            </a:r>
            <a:endParaRPr dirty="0"/>
          </a:p>
          <a:p>
            <a:pPr>
              <a:spcBef>
                <a:spcPts val="200"/>
              </a:spcBef>
              <a:defRPr sz="1300"/>
            </a:pPr>
            <a:r>
              <a:rPr dirty="0"/>
              <a:t>  ↓</a:t>
            </a:r>
          </a:p>
          <a:p>
            <a:pPr>
              <a:spcBef>
                <a:spcPts val="200"/>
              </a:spcBef>
              <a:defRPr sz="1300" b="1">
                <a:solidFill>
                  <a:srgbClr val="FB8C00"/>
                </a:solidFill>
              </a:defRPr>
            </a:pPr>
            <a:r>
              <a:rPr dirty="0"/>
              <a:t>Submit Vote → </a:t>
            </a:r>
            <a:r>
              <a:rPr dirty="0" err="1"/>
              <a:t>Simpan</a:t>
            </a:r>
            <a:r>
              <a:rPr dirty="0"/>
              <a:t> </a:t>
            </a:r>
            <a:r>
              <a:rPr dirty="0" err="1"/>
              <a:t>ke</a:t>
            </a:r>
            <a:r>
              <a:rPr dirty="0"/>
              <a:t> DB</a:t>
            </a:r>
          </a:p>
          <a:p>
            <a:pPr>
              <a:spcBef>
                <a:spcPts val="200"/>
              </a:spcBef>
              <a:defRPr sz="1300"/>
            </a:pPr>
            <a:r>
              <a:rPr dirty="0"/>
              <a:t>  ↓</a:t>
            </a:r>
          </a:p>
          <a:p>
            <a:pPr>
              <a:spcBef>
                <a:spcPts val="200"/>
              </a:spcBef>
              <a:defRPr sz="1300"/>
            </a:pPr>
            <a:r>
              <a:rPr dirty="0"/>
              <a:t>Update </a:t>
            </a:r>
            <a:r>
              <a:rPr dirty="0" err="1"/>
              <a:t>has_voted</a:t>
            </a:r>
            <a:r>
              <a:rPr dirty="0"/>
              <a:t>=true, </a:t>
            </a:r>
            <a:r>
              <a:rPr dirty="0" err="1"/>
              <a:t>voted_at</a:t>
            </a:r>
            <a:r>
              <a:rPr dirty="0"/>
              <a:t>=now()</a:t>
            </a:r>
          </a:p>
          <a:p>
            <a:pPr>
              <a:spcBef>
                <a:spcPts val="200"/>
              </a:spcBef>
              <a:defRPr sz="1300"/>
            </a:pPr>
            <a:r>
              <a:rPr dirty="0"/>
              <a:t>  ↓</a:t>
            </a:r>
          </a:p>
          <a:p>
            <a:pPr>
              <a:spcBef>
                <a:spcPts val="200"/>
              </a:spcBef>
              <a:defRPr sz="1300"/>
            </a:pPr>
            <a:r>
              <a:rPr lang="en-ID" dirty="0"/>
              <a:t>Destroy Session</a:t>
            </a:r>
          </a:p>
          <a:p>
            <a:pPr>
              <a:spcBef>
                <a:spcPts val="200"/>
              </a:spcBef>
              <a:defRPr sz="1300"/>
            </a:pPr>
            <a:r>
              <a:rPr lang="en-ID" dirty="0"/>
              <a:t>  ↓</a:t>
            </a:r>
          </a:p>
          <a:p>
            <a:pPr>
              <a:spcBef>
                <a:spcPts val="200"/>
              </a:spcBef>
              <a:defRPr sz="1300" b="1">
                <a:solidFill>
                  <a:srgbClr val="FB8C00"/>
                </a:solidFill>
              </a:defRPr>
            </a:pPr>
            <a:r>
              <a:rPr lang="en-US" dirty="0"/>
              <a:t>Redirect </a:t>
            </a:r>
            <a:r>
              <a:rPr lang="en-US" dirty="0" err="1"/>
              <a:t>ke</a:t>
            </a:r>
            <a:r>
              <a:rPr lang="en-US" dirty="0"/>
              <a:t> /chart → </a:t>
            </a:r>
            <a:r>
              <a:rPr lang="en-US" dirty="0" err="1"/>
              <a:t>Lihat</a:t>
            </a:r>
            <a:r>
              <a:rPr lang="en-US" dirty="0"/>
              <a:t> Hasil</a:t>
            </a:r>
          </a:p>
          <a:p>
            <a:pPr>
              <a:spcBef>
                <a:spcPts val="200"/>
              </a:spcBef>
              <a:defRPr sz="1300"/>
            </a:pPr>
            <a:r>
              <a:rPr lang="en-US" dirty="0"/>
              <a:t>  ↓</a:t>
            </a:r>
          </a:p>
          <a:p>
            <a:pPr>
              <a:spcBef>
                <a:spcPts val="200"/>
              </a:spcBef>
              <a:defRPr sz="1300" b="1">
                <a:solidFill>
                  <a:srgbClr val="FB8C00"/>
                </a:solidFill>
              </a:defRPr>
            </a:pPr>
            <a:r>
              <a:rPr dirty="0"/>
              <a:t>END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E53935"/>
                </a:solidFill>
              </a:defRPr>
            </a:pPr>
            <a:r>
              <a:t>KEAMANAN &amp; VALIDASI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E53935"/>
                </a:solidFill>
              </a:defRPr>
            </a:pPr>
            <a:r>
              <a:rPr dirty="0"/>
              <a:t>🔒 AUTENTIKASI</a:t>
            </a:r>
          </a:p>
          <a:p>
            <a:pPr lvl="1">
              <a:spcBef>
                <a:spcPts val="200"/>
              </a:spcBef>
              <a:defRPr sz="1200"/>
            </a:pPr>
            <a:r>
              <a:rPr dirty="0"/>
              <a:t>  • Password di-hash </a:t>
            </a:r>
            <a:r>
              <a:rPr dirty="0" err="1"/>
              <a:t>menggunakan</a:t>
            </a:r>
            <a:r>
              <a:rPr dirty="0"/>
              <a:t> </a:t>
            </a:r>
            <a:r>
              <a:rPr dirty="0" err="1"/>
              <a:t>bcrypt</a:t>
            </a:r>
            <a:endParaRPr dirty="0"/>
          </a:p>
          <a:p>
            <a:pPr lvl="1">
              <a:spcBef>
                <a:spcPts val="200"/>
              </a:spcBef>
              <a:defRPr sz="1200"/>
            </a:pPr>
            <a:r>
              <a:rPr dirty="0"/>
              <a:t>  • Session-based authentication</a:t>
            </a:r>
          </a:p>
          <a:p>
            <a:pPr lvl="1">
              <a:spcBef>
                <a:spcPts val="200"/>
              </a:spcBef>
              <a:defRPr sz="1200"/>
            </a:pPr>
            <a:r>
              <a:rPr dirty="0"/>
              <a:t>  • CSRF protection di </a:t>
            </a:r>
            <a:r>
              <a:rPr dirty="0" err="1"/>
              <a:t>semua</a:t>
            </a:r>
            <a:r>
              <a:rPr dirty="0"/>
              <a:t> form</a:t>
            </a:r>
          </a:p>
          <a:p>
            <a:pPr>
              <a:spcBef>
                <a:spcPts val="1000"/>
              </a:spcBef>
              <a:defRPr sz="1600" b="1">
                <a:solidFill>
                  <a:srgbClr val="E53935"/>
                </a:solidFill>
              </a:defRPr>
            </a:pPr>
            <a:r>
              <a:rPr dirty="0"/>
              <a:t>🛡️ AUTORISASI</a:t>
            </a:r>
          </a:p>
          <a:p>
            <a:pPr lvl="1">
              <a:spcBef>
                <a:spcPts val="200"/>
              </a:spcBef>
              <a:defRPr sz="1200"/>
            </a:pPr>
            <a:r>
              <a:rPr dirty="0"/>
              <a:t>  • Role-based access control (admin/</a:t>
            </a:r>
            <a:r>
              <a:rPr dirty="0" err="1"/>
              <a:t>mahasiswa</a:t>
            </a:r>
            <a:r>
              <a:rPr dirty="0"/>
              <a:t>)</a:t>
            </a:r>
          </a:p>
          <a:p>
            <a:pPr lvl="1">
              <a:spcBef>
                <a:spcPts val="200"/>
              </a:spcBef>
              <a:defRPr sz="1200"/>
            </a:pPr>
            <a:r>
              <a:rPr dirty="0"/>
              <a:t>  • Middleware protection </a:t>
            </a:r>
            <a:r>
              <a:rPr dirty="0" err="1"/>
              <a:t>untuk</a:t>
            </a:r>
            <a:r>
              <a:rPr dirty="0"/>
              <a:t> route admin</a:t>
            </a:r>
          </a:p>
          <a:p>
            <a:pPr lvl="1">
              <a:spcBef>
                <a:spcPts val="200"/>
              </a:spcBef>
              <a:defRPr sz="1200"/>
            </a:pPr>
            <a:r>
              <a:rPr dirty="0"/>
              <a:t>  • </a:t>
            </a:r>
            <a:r>
              <a:rPr dirty="0" err="1"/>
              <a:t>Mahasiswa</a:t>
            </a:r>
            <a:r>
              <a:rPr dirty="0"/>
              <a:t> </a:t>
            </a:r>
            <a:r>
              <a:rPr dirty="0" err="1"/>
              <a:t>hanya</a:t>
            </a:r>
            <a:r>
              <a:rPr dirty="0"/>
              <a:t> </a:t>
            </a:r>
            <a:r>
              <a:rPr dirty="0" err="1"/>
              <a:t>bisa</a:t>
            </a:r>
            <a:r>
              <a:rPr dirty="0"/>
              <a:t> voting </a:t>
            </a:r>
            <a:r>
              <a:rPr dirty="0" err="1"/>
              <a:t>jika</a:t>
            </a:r>
            <a:r>
              <a:rPr dirty="0"/>
              <a:t> </a:t>
            </a:r>
            <a:r>
              <a:rPr dirty="0" err="1"/>
              <a:t>sudah</a:t>
            </a:r>
            <a:r>
              <a:rPr dirty="0"/>
              <a:t> </a:t>
            </a:r>
            <a:r>
              <a:rPr dirty="0" err="1"/>
              <a:t>verifikasi</a:t>
            </a:r>
            <a:endParaRPr dirty="0"/>
          </a:p>
          <a:p>
            <a:pPr>
              <a:spcBef>
                <a:spcPts val="1000"/>
              </a:spcBef>
              <a:defRPr sz="1600" b="1">
                <a:solidFill>
                  <a:srgbClr val="E53935"/>
                </a:solidFill>
              </a:defRPr>
            </a:pPr>
            <a:r>
              <a:rPr dirty="0"/>
              <a:t>✅ VALIDASI VOTING</a:t>
            </a:r>
          </a:p>
          <a:p>
            <a:pPr lvl="1">
              <a:spcBef>
                <a:spcPts val="200"/>
              </a:spcBef>
              <a:defRPr sz="1200"/>
            </a:pPr>
            <a:r>
              <a:rPr dirty="0"/>
              <a:t>  • Cek </a:t>
            </a:r>
            <a:r>
              <a:rPr dirty="0" err="1"/>
              <a:t>has_voted</a:t>
            </a:r>
            <a:r>
              <a:rPr dirty="0"/>
              <a:t> </a:t>
            </a:r>
            <a:r>
              <a:rPr dirty="0" err="1"/>
              <a:t>sebelum</a:t>
            </a:r>
            <a:r>
              <a:rPr dirty="0"/>
              <a:t> </a:t>
            </a:r>
            <a:r>
              <a:rPr dirty="0" err="1"/>
              <a:t>tampilkan</a:t>
            </a:r>
            <a:r>
              <a:rPr dirty="0"/>
              <a:t> </a:t>
            </a:r>
            <a:r>
              <a:rPr dirty="0" err="1"/>
              <a:t>halaman</a:t>
            </a:r>
            <a:r>
              <a:rPr dirty="0"/>
              <a:t> voting</a:t>
            </a:r>
          </a:p>
          <a:p>
            <a:pPr lvl="1">
              <a:spcBef>
                <a:spcPts val="200"/>
              </a:spcBef>
              <a:defRPr sz="1200"/>
            </a:pPr>
            <a:r>
              <a:rPr dirty="0"/>
              <a:t>  • Prevent double voting (database constraint)</a:t>
            </a:r>
          </a:p>
          <a:p>
            <a:pPr lvl="1">
              <a:spcBef>
                <a:spcPts val="200"/>
              </a:spcBef>
              <a:defRPr sz="1200"/>
            </a:pPr>
            <a:r>
              <a:rPr dirty="0"/>
              <a:t>  • Session </a:t>
            </a:r>
            <a:r>
              <a:rPr dirty="0" err="1"/>
              <a:t>dihapus</a:t>
            </a:r>
            <a:r>
              <a:rPr dirty="0"/>
              <a:t> </a:t>
            </a:r>
            <a:r>
              <a:rPr dirty="0" err="1"/>
              <a:t>setelah</a:t>
            </a:r>
            <a:r>
              <a:rPr dirty="0"/>
              <a:t> voting</a:t>
            </a:r>
          </a:p>
          <a:p>
            <a:pPr lvl="1">
              <a:spcBef>
                <a:spcPts val="200"/>
              </a:spcBef>
              <a:defRPr sz="1200"/>
            </a:pPr>
            <a:r>
              <a:rPr dirty="0"/>
              <a:t>  • </a:t>
            </a:r>
            <a:r>
              <a:rPr dirty="0" err="1"/>
              <a:t>Mahasiswa</a:t>
            </a:r>
            <a:r>
              <a:rPr dirty="0"/>
              <a:t> </a:t>
            </a:r>
            <a:r>
              <a:rPr dirty="0" err="1"/>
              <a:t>tidak</a:t>
            </a:r>
            <a:r>
              <a:rPr dirty="0"/>
              <a:t> </a:t>
            </a:r>
            <a:r>
              <a:rPr dirty="0" err="1"/>
              <a:t>bisa</a:t>
            </a:r>
            <a:r>
              <a:rPr dirty="0"/>
              <a:t> login </a:t>
            </a:r>
            <a:r>
              <a:rPr dirty="0" err="1"/>
              <a:t>ulang</a:t>
            </a:r>
            <a:r>
              <a:rPr dirty="0"/>
              <a:t> </a:t>
            </a:r>
            <a:r>
              <a:rPr dirty="0" err="1"/>
              <a:t>ke</a:t>
            </a:r>
            <a:r>
              <a:rPr dirty="0"/>
              <a:t> </a:t>
            </a:r>
            <a:r>
              <a:rPr dirty="0" err="1"/>
              <a:t>sistem</a:t>
            </a:r>
            <a:r>
              <a:rPr dirty="0"/>
              <a:t> voting</a:t>
            </a:r>
          </a:p>
          <a:p>
            <a:pPr>
              <a:spcBef>
                <a:spcPts val="1000"/>
              </a:spcBef>
              <a:defRPr sz="1600" b="1">
                <a:solidFill>
                  <a:srgbClr val="E53935"/>
                </a:solidFill>
              </a:defRPr>
            </a:pPr>
            <a:r>
              <a:rPr dirty="0"/>
              <a:t>⏰ PERIODE VOTING</a:t>
            </a:r>
          </a:p>
          <a:p>
            <a:pPr lvl="1">
              <a:spcBef>
                <a:spcPts val="200"/>
              </a:spcBef>
              <a:defRPr sz="1200"/>
            </a:pPr>
            <a:r>
              <a:rPr dirty="0"/>
              <a:t>  • Admin set </a:t>
            </a:r>
            <a:r>
              <a:rPr dirty="0" err="1"/>
              <a:t>voting_start</a:t>
            </a:r>
            <a:r>
              <a:rPr dirty="0"/>
              <a:t> &amp; </a:t>
            </a:r>
            <a:r>
              <a:rPr dirty="0" err="1"/>
              <a:t>voting_end</a:t>
            </a:r>
            <a:endParaRPr dirty="0"/>
          </a:p>
          <a:p>
            <a:pPr lvl="1">
              <a:spcBef>
                <a:spcPts val="200"/>
              </a:spcBef>
              <a:defRPr sz="1200"/>
            </a:pPr>
            <a:r>
              <a:rPr dirty="0"/>
              <a:t>  • </a:t>
            </a:r>
            <a:r>
              <a:rPr dirty="0" err="1"/>
              <a:t>Sistem</a:t>
            </a:r>
            <a:r>
              <a:rPr dirty="0"/>
              <a:t> auto-disable voting di </a:t>
            </a:r>
            <a:r>
              <a:rPr dirty="0" err="1"/>
              <a:t>luar</a:t>
            </a:r>
            <a:r>
              <a:rPr dirty="0"/>
              <a:t> </a:t>
            </a:r>
            <a:r>
              <a:rPr dirty="0" err="1"/>
              <a:t>periode</a:t>
            </a:r>
            <a:endParaRPr dirty="0"/>
          </a:p>
          <a:p>
            <a:pPr lvl="1">
              <a:spcBef>
                <a:spcPts val="200"/>
              </a:spcBef>
              <a:defRPr sz="1200"/>
            </a:pPr>
            <a:r>
              <a:rPr dirty="0"/>
              <a:t>  • </a:t>
            </a:r>
            <a:r>
              <a:rPr dirty="0" err="1"/>
              <a:t>Validasi</a:t>
            </a:r>
            <a:r>
              <a:rPr dirty="0"/>
              <a:t> timestamp </a:t>
            </a:r>
            <a:r>
              <a:rPr dirty="0" err="1"/>
              <a:t>sebelum</a:t>
            </a:r>
            <a:r>
              <a:rPr dirty="0"/>
              <a:t> </a:t>
            </a:r>
            <a:r>
              <a:rPr dirty="0" err="1"/>
              <a:t>terima</a:t>
            </a:r>
            <a:r>
              <a:rPr dirty="0"/>
              <a:t> vote</a:t>
            </a:r>
          </a:p>
          <a:p>
            <a:pPr>
              <a:spcBef>
                <a:spcPts val="1000"/>
              </a:spcBef>
              <a:defRPr sz="1600" b="1">
                <a:solidFill>
                  <a:srgbClr val="E53935"/>
                </a:solidFill>
              </a:defRPr>
            </a:pPr>
            <a:r>
              <a:rPr dirty="0"/>
              <a:t>📊 INTEGRITAS DATA</a:t>
            </a:r>
          </a:p>
          <a:p>
            <a:pPr lvl="1">
              <a:spcBef>
                <a:spcPts val="200"/>
              </a:spcBef>
              <a:defRPr sz="1200"/>
            </a:pPr>
            <a:r>
              <a:rPr dirty="0"/>
              <a:t>  • Foreign key constraints</a:t>
            </a:r>
          </a:p>
          <a:p>
            <a:pPr lvl="1">
              <a:spcBef>
                <a:spcPts val="200"/>
              </a:spcBef>
              <a:defRPr sz="1200"/>
            </a:pPr>
            <a:r>
              <a:rPr dirty="0"/>
              <a:t>  • Unique constraints (NIM, email)</a:t>
            </a:r>
          </a:p>
          <a:p>
            <a:pPr lvl="1">
              <a:spcBef>
                <a:spcPts val="200"/>
              </a:spcBef>
              <a:defRPr sz="1200"/>
            </a:pPr>
            <a:r>
              <a:rPr dirty="0"/>
              <a:t>  • Transaction </a:t>
            </a:r>
            <a:r>
              <a:rPr dirty="0" err="1"/>
              <a:t>untuk</a:t>
            </a:r>
            <a:r>
              <a:rPr dirty="0"/>
              <a:t> </a:t>
            </a:r>
            <a:r>
              <a:rPr dirty="0" err="1"/>
              <a:t>operasi</a:t>
            </a:r>
            <a:r>
              <a:rPr dirty="0"/>
              <a:t> critical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565C0"/>
                </a:solidFill>
              </a:defRPr>
            </a:pPr>
            <a:r>
              <a:t>FITUR-FITUR SISTEM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800" b="1">
                <a:solidFill>
                  <a:srgbClr val="43A047"/>
                </a:solidFill>
              </a:defRPr>
            </a:pPr>
            <a:r>
              <a:t>UNTUK MAHASISWA</a:t>
            </a:r>
          </a:p>
          <a:p>
            <a:pPr>
              <a:spcBef>
                <a:spcPts val="600"/>
              </a:spcBef>
              <a:defRPr sz="1300"/>
            </a:pPr>
            <a:r>
              <a:t>✓ Verifikasi NIM cepat &amp; aman</a:t>
            </a:r>
          </a:p>
          <a:p>
            <a:pPr>
              <a:spcBef>
                <a:spcPts val="600"/>
              </a:spcBef>
              <a:defRPr sz="1300"/>
            </a:pPr>
            <a:r>
              <a:t>✓ UI voting yang intuitif</a:t>
            </a:r>
          </a:p>
          <a:p>
            <a:pPr>
              <a:spcBef>
                <a:spcPts val="600"/>
              </a:spcBef>
              <a:defRPr sz="1300"/>
            </a:pPr>
            <a:r>
              <a:t>✓ Preview kandidat (foto, visi, misi)</a:t>
            </a:r>
          </a:p>
          <a:p>
            <a:pPr>
              <a:spcBef>
                <a:spcPts val="600"/>
              </a:spcBef>
              <a:defRPr sz="1300"/>
            </a:pPr>
            <a:r>
              <a:t>✓ Konfirmasi sebelum submit vote</a:t>
            </a:r>
          </a:p>
          <a:p>
            <a:pPr>
              <a:spcBef>
                <a:spcPts val="600"/>
              </a:spcBef>
              <a:defRPr sz="1300"/>
            </a:pPr>
            <a:r>
              <a:t>✓ Real-time chart hasil voting</a:t>
            </a:r>
          </a:p>
          <a:p>
            <a:pPr>
              <a:spcBef>
                <a:spcPts val="600"/>
              </a:spcBef>
              <a:defRPr sz="1300"/>
            </a:pPr>
            <a:r>
              <a:t>✓ Responsive design (mobile-friendly)</a:t>
            </a:r>
          </a:p>
          <a:p>
            <a:pPr>
              <a:spcBef>
                <a:spcPts val="600"/>
              </a:spcBef>
              <a:defRPr sz="1300"/>
            </a:pPr>
            <a:r>
              <a:t>✓ One-time voting (tidak bisa ganda)</a:t>
            </a:r>
          </a:p>
          <a:p>
            <a:pPr>
              <a:spcBef>
                <a:spcPts val="600"/>
              </a:spcBef>
              <a:defRPr sz="1300"/>
            </a:pPr>
            <a:r>
              <a:t>✓ Notifikasi sukses voting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371600"/>
            <a:ext cx="3657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800" b="1">
                <a:solidFill>
                  <a:srgbClr val="1565C0"/>
                </a:solidFill>
              </a:defRPr>
            </a:pPr>
            <a:r>
              <a:t>UNTUK ADMIN</a:t>
            </a:r>
          </a:p>
          <a:p>
            <a:pPr>
              <a:spcBef>
                <a:spcPts val="600"/>
              </a:spcBef>
              <a:defRPr sz="1300"/>
            </a:pPr>
            <a:r>
              <a:t>✓ Dashboard analytics</a:t>
            </a:r>
          </a:p>
          <a:p>
            <a:pPr>
              <a:spcBef>
                <a:spcPts val="600"/>
              </a:spcBef>
              <a:defRPr sz="1300"/>
            </a:pPr>
            <a:r>
              <a:t>✓ CRUD kandidat lengkap</a:t>
            </a:r>
          </a:p>
          <a:p>
            <a:pPr>
              <a:spcBef>
                <a:spcPts val="600"/>
              </a:spcBef>
              <a:defRPr sz="1300"/>
            </a:pPr>
            <a:r>
              <a:t>✓ CRUD mahasiswa + import CSV</a:t>
            </a:r>
          </a:p>
          <a:p>
            <a:pPr>
              <a:spcBef>
                <a:spcPts val="600"/>
              </a:spcBef>
              <a:defRPr sz="1300"/>
            </a:pPr>
            <a:r>
              <a:t>✓ Export data mahasiswa</a:t>
            </a:r>
          </a:p>
          <a:p>
            <a:pPr>
              <a:spcBef>
                <a:spcPts val="600"/>
              </a:spcBef>
              <a:defRPr sz="1300"/>
            </a:pPr>
            <a:r>
              <a:t>✓ Manajemen admin accounts</a:t>
            </a:r>
          </a:p>
          <a:p>
            <a:pPr>
              <a:spcBef>
                <a:spcPts val="600"/>
              </a:spcBef>
              <a:defRPr sz="1300"/>
            </a:pPr>
            <a:r>
              <a:t>✓ Real-time vote monitoring</a:t>
            </a:r>
          </a:p>
          <a:p>
            <a:pPr>
              <a:spcBef>
                <a:spcPts val="600"/>
              </a:spcBef>
              <a:defRPr sz="1300"/>
            </a:pPr>
            <a:r>
              <a:t>✓ Rekap hasil voting</a:t>
            </a:r>
          </a:p>
          <a:p>
            <a:pPr>
              <a:spcBef>
                <a:spcPts val="600"/>
              </a:spcBef>
              <a:defRPr sz="1300"/>
            </a:pPr>
            <a:r>
              <a:t>✓ Konfigurasi periode voting</a:t>
            </a:r>
          </a:p>
          <a:p>
            <a:pPr>
              <a:spcBef>
                <a:spcPts val="600"/>
              </a:spcBef>
              <a:defRPr sz="1300"/>
            </a:pPr>
            <a:r>
              <a:t>✓ Toggle voting status mahasiswa</a:t>
            </a:r>
          </a:p>
          <a:p>
            <a:pPr>
              <a:spcBef>
                <a:spcPts val="600"/>
              </a:spcBef>
              <a:defRPr sz="1300"/>
            </a:pPr>
            <a:r>
              <a:t>✓ Activity logging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FB8C00"/>
                </a:solidFill>
              </a:defRPr>
            </a:pPr>
            <a:r>
              <a:t>FITUR PUBLIC (TANPA LOGIN)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spcBef>
                <a:spcPts val="1000"/>
              </a:spcBef>
              <a:defRPr sz="2400" b="1">
                <a:solidFill>
                  <a:srgbClr val="FB8C00"/>
                </a:solidFill>
              </a:defRPr>
            </a:pPr>
            <a:r>
              <a:rPr dirty="0"/>
              <a:t>📊 HALAMAN CHART (/chart)</a:t>
            </a:r>
          </a:p>
          <a:p>
            <a:pPr>
              <a:spcBef>
                <a:spcPts val="1000"/>
              </a:spcBef>
              <a:defRPr sz="1800"/>
            </a:pPr>
            <a:r>
              <a:rPr dirty="0"/>
              <a:t>• Accessible </a:t>
            </a:r>
            <a:r>
              <a:rPr dirty="0" err="1"/>
              <a:t>tanpa</a:t>
            </a:r>
            <a:r>
              <a:rPr dirty="0"/>
              <a:t> login</a:t>
            </a:r>
          </a:p>
          <a:p>
            <a:pPr>
              <a:spcBef>
                <a:spcPts val="1000"/>
              </a:spcBef>
              <a:defRPr sz="1800"/>
            </a:pPr>
            <a:r>
              <a:rPr dirty="0"/>
              <a:t>• Real-time chart </a:t>
            </a:r>
            <a:r>
              <a:rPr dirty="0" err="1"/>
              <a:t>dengan</a:t>
            </a:r>
            <a:r>
              <a:rPr dirty="0"/>
              <a:t> Chart.js</a:t>
            </a:r>
          </a:p>
          <a:p>
            <a:pPr>
              <a:spcBef>
                <a:spcPts val="1000"/>
              </a:spcBef>
              <a:defRPr sz="1800"/>
            </a:pPr>
            <a:r>
              <a:rPr dirty="0"/>
              <a:t>• Auto-refresh </a:t>
            </a:r>
            <a:r>
              <a:rPr dirty="0" err="1"/>
              <a:t>setiap</a:t>
            </a:r>
            <a:r>
              <a:rPr dirty="0"/>
              <a:t> </a:t>
            </a:r>
            <a:r>
              <a:rPr dirty="0" err="1"/>
              <a:t>beberapa</a:t>
            </a:r>
            <a:r>
              <a:rPr dirty="0"/>
              <a:t> </a:t>
            </a:r>
            <a:r>
              <a:rPr dirty="0" err="1"/>
              <a:t>detik</a:t>
            </a:r>
            <a:endParaRPr dirty="0"/>
          </a:p>
          <a:p>
            <a:pPr>
              <a:spcBef>
                <a:spcPts val="1000"/>
              </a:spcBef>
              <a:defRPr sz="1800"/>
            </a:pPr>
            <a:r>
              <a:rPr dirty="0"/>
              <a:t>• </a:t>
            </a:r>
            <a:r>
              <a:rPr dirty="0" err="1"/>
              <a:t>Menampilkan</a:t>
            </a:r>
            <a:r>
              <a:rPr dirty="0"/>
              <a:t> </a:t>
            </a:r>
            <a:r>
              <a:rPr dirty="0" err="1"/>
              <a:t>hasil</a:t>
            </a:r>
            <a:r>
              <a:rPr dirty="0"/>
              <a:t> voting </a:t>
            </a:r>
            <a:r>
              <a:rPr dirty="0" err="1"/>
              <a:t>sementara</a:t>
            </a:r>
            <a:endParaRPr dirty="0"/>
          </a:p>
          <a:p>
            <a:pPr>
              <a:spcBef>
                <a:spcPts val="1000"/>
              </a:spcBef>
              <a:defRPr sz="1800"/>
            </a:pPr>
            <a:r>
              <a:rPr dirty="0"/>
              <a:t>• Bar chart </a:t>
            </a:r>
            <a:r>
              <a:rPr dirty="0" err="1"/>
              <a:t>atau</a:t>
            </a:r>
            <a:r>
              <a:rPr dirty="0"/>
              <a:t> pie chart</a:t>
            </a:r>
          </a:p>
          <a:p>
            <a:pPr>
              <a:spcBef>
                <a:spcPts val="1000"/>
              </a:spcBef>
              <a:defRPr sz="1800"/>
            </a:pPr>
            <a:r>
              <a:rPr dirty="0"/>
              <a:t>• Responsive layout</a:t>
            </a:r>
          </a:p>
          <a:p>
            <a:pPr>
              <a:spcBef>
                <a:spcPts val="1000"/>
              </a:spcBef>
              <a:defRPr sz="1800"/>
            </a:pPr>
            <a:r>
              <a:rPr dirty="0"/>
              <a:t>• Bisa di-share </a:t>
            </a:r>
            <a:r>
              <a:rPr dirty="0" err="1"/>
              <a:t>ke</a:t>
            </a:r>
            <a:r>
              <a:rPr dirty="0"/>
              <a:t> </a:t>
            </a:r>
            <a:r>
              <a:rPr dirty="0" err="1"/>
              <a:t>publik</a:t>
            </a:r>
            <a:endParaRPr dirty="0"/>
          </a:p>
          <a:p>
            <a:br>
              <a:rPr dirty="0"/>
            </a:br>
            <a:r>
              <a:rPr dirty="0"/>
              <a:t>🎯 API ENDPOINT</a:t>
            </a:r>
          </a:p>
          <a:p>
            <a:pPr>
              <a:spcBef>
                <a:spcPts val="500"/>
              </a:spcBef>
              <a:defRPr sz="1800">
                <a:solidFill>
                  <a:srgbClr val="616161"/>
                </a:solidFill>
              </a:defRPr>
            </a:pPr>
            <a:r>
              <a:rPr dirty="0"/>
              <a:t>GET /</a:t>
            </a:r>
            <a:r>
              <a:rPr dirty="0" err="1"/>
              <a:t>api</a:t>
            </a:r>
            <a:r>
              <a:rPr dirty="0"/>
              <a:t>/chart</a:t>
            </a:r>
          </a:p>
          <a:p>
            <a:pPr>
              <a:defRPr sz="1400">
                <a:solidFill>
                  <a:srgbClr val="616161"/>
                </a:solidFill>
              </a:defRPr>
            </a:pPr>
            <a:r>
              <a:rPr dirty="0"/>
              <a:t>Return: JSON </a:t>
            </a:r>
            <a:r>
              <a:rPr dirty="0" err="1"/>
              <a:t>dengan</a:t>
            </a:r>
            <a:r>
              <a:rPr dirty="0"/>
              <a:t> labels (nama </a:t>
            </a:r>
            <a:r>
              <a:rPr dirty="0" err="1"/>
              <a:t>kandidat</a:t>
            </a:r>
            <a:r>
              <a:rPr dirty="0"/>
              <a:t>) &amp; values (</a:t>
            </a:r>
            <a:r>
              <a:rPr dirty="0" err="1"/>
              <a:t>jumlah</a:t>
            </a:r>
            <a:r>
              <a:rPr dirty="0"/>
              <a:t> </a:t>
            </a:r>
            <a:r>
              <a:rPr dirty="0" err="1"/>
              <a:t>suara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565C0"/>
                </a:solidFill>
              </a:defRPr>
            </a:pPr>
            <a:r>
              <a:t>TEKNOLOGI YANG DIGUNAKAN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spcBef>
                <a:spcPts val="1200"/>
              </a:spcBef>
              <a:defRPr sz="1800" b="1">
                <a:solidFill>
                  <a:srgbClr val="1565C0"/>
                </a:solidFill>
              </a:defRPr>
            </a:pPr>
            <a:r>
              <a:rPr dirty="0"/>
              <a:t>🔧 BACKEND</a:t>
            </a:r>
          </a:p>
          <a:p>
            <a:pPr lvl="1">
              <a:spcBef>
                <a:spcPts val="300"/>
              </a:spcBef>
              <a:defRPr sz="1400"/>
            </a:pPr>
            <a:r>
              <a:rPr dirty="0"/>
              <a:t>  • PHP 8.5</a:t>
            </a:r>
          </a:p>
          <a:p>
            <a:pPr lvl="1">
              <a:spcBef>
                <a:spcPts val="300"/>
              </a:spcBef>
              <a:defRPr sz="1400"/>
            </a:pPr>
            <a:r>
              <a:rPr dirty="0"/>
              <a:t>  • Laravel Framework 12</a:t>
            </a:r>
          </a:p>
          <a:p>
            <a:pPr lvl="1">
              <a:spcBef>
                <a:spcPts val="300"/>
              </a:spcBef>
              <a:defRPr sz="1400"/>
            </a:pPr>
            <a:r>
              <a:rPr dirty="0"/>
              <a:t>  • MySQL Database</a:t>
            </a:r>
          </a:p>
          <a:p>
            <a:pPr lvl="1">
              <a:spcBef>
                <a:spcPts val="300"/>
              </a:spcBef>
              <a:defRPr sz="1400"/>
            </a:pPr>
            <a:r>
              <a:rPr dirty="0"/>
              <a:t>  • Eloquent ORM</a:t>
            </a:r>
          </a:p>
          <a:p>
            <a:pPr>
              <a:spcBef>
                <a:spcPts val="1200"/>
              </a:spcBef>
              <a:defRPr sz="1800" b="1">
                <a:solidFill>
                  <a:srgbClr val="1565C0"/>
                </a:solidFill>
              </a:defRPr>
            </a:pPr>
            <a:r>
              <a:rPr dirty="0"/>
              <a:t>🎨 FRONTEND</a:t>
            </a:r>
          </a:p>
          <a:p>
            <a:pPr lvl="1">
              <a:spcBef>
                <a:spcPts val="300"/>
              </a:spcBef>
              <a:defRPr sz="1400"/>
            </a:pPr>
            <a:r>
              <a:rPr dirty="0"/>
              <a:t>  • HTML5, CSS3, JavaScript</a:t>
            </a:r>
          </a:p>
          <a:p>
            <a:pPr lvl="1">
              <a:spcBef>
                <a:spcPts val="300"/>
              </a:spcBef>
              <a:defRPr sz="1400"/>
            </a:pPr>
            <a:r>
              <a:rPr dirty="0"/>
              <a:t>  • Vanilla CSS (responsive design)</a:t>
            </a:r>
          </a:p>
          <a:p>
            <a:pPr lvl="1">
              <a:spcBef>
                <a:spcPts val="300"/>
              </a:spcBef>
              <a:defRPr sz="1400"/>
            </a:pPr>
            <a:r>
              <a:rPr dirty="0"/>
              <a:t>  • Chart.js (</a:t>
            </a:r>
            <a:r>
              <a:rPr dirty="0" err="1"/>
              <a:t>visualisasi</a:t>
            </a:r>
            <a:r>
              <a:rPr dirty="0"/>
              <a:t> data)</a:t>
            </a:r>
          </a:p>
          <a:p>
            <a:pPr lvl="1">
              <a:spcBef>
                <a:spcPts val="300"/>
              </a:spcBef>
              <a:defRPr sz="1400"/>
            </a:pPr>
            <a:r>
              <a:rPr dirty="0"/>
              <a:t>  • Modern UI/UX design</a:t>
            </a:r>
          </a:p>
          <a:p>
            <a:pPr>
              <a:spcBef>
                <a:spcPts val="1200"/>
              </a:spcBef>
              <a:defRPr sz="1800" b="1">
                <a:solidFill>
                  <a:srgbClr val="1565C0"/>
                </a:solidFill>
              </a:defRPr>
            </a:pPr>
            <a:r>
              <a:rPr dirty="0"/>
              <a:t>🔐 KEAMANAN</a:t>
            </a:r>
          </a:p>
          <a:p>
            <a:pPr lvl="1">
              <a:spcBef>
                <a:spcPts val="300"/>
              </a:spcBef>
              <a:defRPr sz="1400"/>
            </a:pPr>
            <a:r>
              <a:rPr dirty="0"/>
              <a:t>  • Laravel Authentication</a:t>
            </a:r>
          </a:p>
          <a:p>
            <a:pPr lvl="1">
              <a:spcBef>
                <a:spcPts val="300"/>
              </a:spcBef>
              <a:defRPr sz="1400"/>
            </a:pPr>
            <a:r>
              <a:rPr dirty="0"/>
              <a:t>  • </a:t>
            </a:r>
            <a:r>
              <a:rPr dirty="0" err="1"/>
              <a:t>Bcrypt</a:t>
            </a:r>
            <a:r>
              <a:rPr dirty="0"/>
              <a:t> password hashing</a:t>
            </a:r>
          </a:p>
          <a:p>
            <a:pPr lvl="1">
              <a:spcBef>
                <a:spcPts val="300"/>
              </a:spcBef>
              <a:defRPr sz="1400"/>
            </a:pPr>
            <a:r>
              <a:rPr dirty="0"/>
              <a:t>  • CSRF protection</a:t>
            </a:r>
          </a:p>
          <a:p>
            <a:pPr lvl="1">
              <a:spcBef>
                <a:spcPts val="300"/>
              </a:spcBef>
              <a:defRPr sz="1400"/>
            </a:pPr>
            <a:r>
              <a:rPr dirty="0"/>
              <a:t>  • Session management</a:t>
            </a:r>
          </a:p>
          <a:p>
            <a:pPr>
              <a:spcBef>
                <a:spcPts val="1200"/>
              </a:spcBef>
              <a:defRPr sz="1800" b="1">
                <a:solidFill>
                  <a:srgbClr val="1565C0"/>
                </a:solidFill>
              </a:defRPr>
            </a:pPr>
            <a:r>
              <a:rPr dirty="0"/>
              <a:t>🛠️ TOOLS &amp; LIBRARY</a:t>
            </a:r>
          </a:p>
          <a:p>
            <a:pPr lvl="1">
              <a:spcBef>
                <a:spcPts val="300"/>
              </a:spcBef>
              <a:defRPr sz="1400"/>
            </a:pPr>
            <a:r>
              <a:rPr dirty="0"/>
              <a:t>  • Composer (dependency management)</a:t>
            </a:r>
          </a:p>
          <a:p>
            <a:pPr lvl="1">
              <a:spcBef>
                <a:spcPts val="300"/>
              </a:spcBef>
              <a:defRPr sz="1400"/>
            </a:pPr>
            <a:r>
              <a:rPr dirty="0"/>
              <a:t>  • NPM (frontend packages)</a:t>
            </a:r>
          </a:p>
          <a:p>
            <a:pPr lvl="1">
              <a:spcBef>
                <a:spcPts val="300"/>
              </a:spcBef>
              <a:defRPr sz="1400"/>
            </a:pPr>
            <a:r>
              <a:rPr dirty="0"/>
              <a:t>  • Laravel Pint (code formatting)</a:t>
            </a:r>
          </a:p>
          <a:p>
            <a:pPr lvl="1">
              <a:spcBef>
                <a:spcPts val="300"/>
              </a:spcBef>
              <a:defRPr sz="1400"/>
            </a:pPr>
            <a:r>
              <a:rPr dirty="0"/>
              <a:t>  • Pest PHP (testing)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565C0"/>
                </a:solidFill>
              </a:defRPr>
            </a:pPr>
            <a:r>
              <a:t>STRUKTUR ROUTE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600" b="1">
                <a:solidFill>
                  <a:srgbClr val="43A047"/>
                </a:solidFill>
              </a:defRPr>
            </a:pPr>
            <a:r>
              <a:t>PUBLIC ROUTES</a:t>
            </a:r>
          </a:p>
          <a:p>
            <a:pPr>
              <a:spcBef>
                <a:spcPts val="400"/>
              </a:spcBef>
              <a:defRPr sz="1100"/>
            </a:pPr>
            <a:r>
              <a:t>/ → Landing page</a:t>
            </a:r>
          </a:p>
          <a:p>
            <a:pPr>
              <a:spcBef>
                <a:spcPts val="400"/>
              </a:spcBef>
              <a:defRPr sz="1100"/>
            </a:pPr>
            <a:r>
              <a:t>/chart → Public chart</a:t>
            </a:r>
          </a:p>
          <a:p>
            <a:pPr>
              <a:spcBef>
                <a:spcPts val="400"/>
              </a:spcBef>
              <a:defRPr sz="1100"/>
            </a:pPr>
            <a:r>
              <a:t>/api/chart → Chart API</a:t>
            </a:r>
          </a:p>
          <a:p>
            <a:br/>
            <a:r>
              <a:t>MAHASISWA ROUTES</a:t>
            </a:r>
          </a:p>
          <a:p>
            <a:pPr>
              <a:spcBef>
                <a:spcPts val="400"/>
              </a:spcBef>
              <a:defRPr sz="1100"/>
            </a:pPr>
            <a:r>
              <a:t>/verifikasi → Verifikasi NIM</a:t>
            </a:r>
          </a:p>
          <a:p>
            <a:pPr>
              <a:spcBef>
                <a:spcPts val="400"/>
              </a:spcBef>
              <a:defRPr sz="1100"/>
            </a:pPr>
            <a:r>
              <a:t>/voting → Halaman voting</a:t>
            </a:r>
          </a:p>
          <a:p>
            <a:pPr>
              <a:spcBef>
                <a:spcPts val="400"/>
              </a:spcBef>
              <a:defRPr sz="1100"/>
            </a:pPr>
            <a:r>
              <a:t>/vote/{id} → Submit vote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371600"/>
            <a:ext cx="3657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600" b="1">
                <a:solidFill>
                  <a:srgbClr val="1565C0"/>
                </a:solidFill>
              </a:defRPr>
            </a:pPr>
            <a:r>
              <a:t>ADMIN ROUTES</a:t>
            </a:r>
          </a:p>
          <a:p>
            <a:pPr>
              <a:spcBef>
                <a:spcPts val="300"/>
              </a:spcBef>
              <a:defRPr sz="1000"/>
            </a:pPr>
            <a:r>
              <a:t>/login → Admin login</a:t>
            </a:r>
          </a:p>
          <a:p>
            <a:pPr>
              <a:spcBef>
                <a:spcPts val="300"/>
              </a:spcBef>
              <a:defRPr sz="1000"/>
            </a:pPr>
            <a:r>
              <a:t>/logout → Logout</a:t>
            </a:r>
          </a:p>
          <a:p>
            <a:pPr>
              <a:spcBef>
                <a:spcPts val="300"/>
              </a:spcBef>
              <a:defRPr sz="1000"/>
            </a:pPr>
            <a:r>
              <a:t>/dashboard → Dashboard</a:t>
            </a:r>
          </a:p>
          <a:p>
            <a:pPr>
              <a:spcBef>
                <a:spcPts val="300"/>
              </a:spcBef>
              <a:defRPr sz="1000"/>
            </a:pPr>
            <a:r>
              <a:t>/rekap → Rekap hasil</a:t>
            </a:r>
          </a:p>
          <a:p>
            <a:pPr>
              <a:spcBef>
                <a:spcPts val="300"/>
              </a:spcBef>
            </a:pPr>
            <a:endParaRPr/>
          </a:p>
          <a:p>
            <a:pPr>
              <a:spcBef>
                <a:spcPts val="300"/>
              </a:spcBef>
              <a:defRPr sz="1200" b="1"/>
            </a:pPr>
            <a:r>
              <a:t>KANDIDAT:</a:t>
            </a:r>
          </a:p>
          <a:p>
            <a:pPr>
              <a:spcBef>
                <a:spcPts val="300"/>
              </a:spcBef>
              <a:defRPr sz="1000"/>
            </a:pPr>
            <a:r>
              <a:t>/admin/kandidat → List</a:t>
            </a:r>
          </a:p>
          <a:p>
            <a:pPr>
              <a:spcBef>
                <a:spcPts val="300"/>
              </a:spcBef>
              <a:defRPr sz="1000"/>
            </a:pPr>
            <a:r>
              <a:t>/admin/kandidat/create → Form</a:t>
            </a:r>
          </a:p>
          <a:p>
            <a:pPr>
              <a:spcBef>
                <a:spcPts val="300"/>
              </a:spcBef>
              <a:defRPr sz="1000"/>
            </a:pPr>
            <a:r>
              <a:t>/admin/kandidat/{id}/edit → Edit</a:t>
            </a:r>
          </a:p>
          <a:p>
            <a:pPr>
              <a:spcBef>
                <a:spcPts val="300"/>
              </a:spcBef>
            </a:pPr>
            <a:endParaRPr/>
          </a:p>
          <a:p>
            <a:pPr>
              <a:spcBef>
                <a:spcPts val="300"/>
              </a:spcBef>
              <a:defRPr sz="1200" b="1"/>
            </a:pPr>
            <a:r>
              <a:t>MAHASISWA:</a:t>
            </a:r>
          </a:p>
          <a:p>
            <a:pPr>
              <a:spcBef>
                <a:spcPts val="300"/>
              </a:spcBef>
              <a:defRPr sz="1000"/>
            </a:pPr>
            <a:r>
              <a:t>/admin/mahasiswa → List</a:t>
            </a:r>
          </a:p>
          <a:p>
            <a:pPr>
              <a:spcBef>
                <a:spcPts val="300"/>
              </a:spcBef>
              <a:defRPr sz="1000"/>
            </a:pPr>
            <a:r>
              <a:t>/admin/mahasiswa/create → Form</a:t>
            </a:r>
          </a:p>
          <a:p>
            <a:pPr>
              <a:spcBef>
                <a:spcPts val="300"/>
              </a:spcBef>
              <a:defRPr sz="1000"/>
            </a:pPr>
            <a:r>
              <a:t>/admin/mahasiswa/import → Import</a:t>
            </a:r>
          </a:p>
          <a:p>
            <a:pPr>
              <a:spcBef>
                <a:spcPts val="300"/>
              </a:spcBef>
              <a:defRPr sz="1000"/>
            </a:pPr>
            <a:r>
              <a:t>/admin/mahasiswa/export → Export</a:t>
            </a:r>
          </a:p>
          <a:p>
            <a:pPr>
              <a:spcBef>
                <a:spcPts val="300"/>
              </a:spcBef>
            </a:pPr>
            <a:endParaRPr/>
          </a:p>
          <a:p>
            <a:pPr>
              <a:spcBef>
                <a:spcPts val="300"/>
              </a:spcBef>
              <a:defRPr sz="1200" b="1"/>
            </a:pPr>
            <a:r>
              <a:t>SETTINGS:</a:t>
            </a:r>
          </a:p>
          <a:p>
            <a:pPr>
              <a:spcBef>
                <a:spcPts val="300"/>
              </a:spcBef>
              <a:defRPr sz="1000"/>
            </a:pPr>
            <a:r>
              <a:t>/admin/settings → Config</a:t>
            </a:r>
          </a:p>
          <a:p>
            <a:pPr>
              <a:spcBef>
                <a:spcPts val="300"/>
              </a:spcBef>
              <a:defRPr sz="1000"/>
            </a:pPr>
            <a:r>
              <a:t>/admin/admins → Admin mgmt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565C0"/>
                </a:solidFill>
              </a:defRPr>
            </a:pPr>
            <a:r>
              <a:t>RELASI DATABASE DETAIL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500"/>
              </a:spcBef>
              <a:defRPr sz="1800" b="1">
                <a:solidFill>
                  <a:srgbClr val="1565C0"/>
                </a:solidFill>
              </a:defRPr>
            </a:pPr>
            <a:r>
              <a:rPr dirty="0"/>
              <a:t>USERS ↔ PROFILES (1:1)</a:t>
            </a:r>
          </a:p>
          <a:p>
            <a:pPr lvl="1">
              <a:spcBef>
                <a:spcPts val="500"/>
              </a:spcBef>
              <a:defRPr sz="1400"/>
            </a:pPr>
            <a:r>
              <a:rPr dirty="0"/>
              <a:t>• Satu user </a:t>
            </a:r>
            <a:r>
              <a:rPr dirty="0" err="1"/>
              <a:t>hanya</a:t>
            </a:r>
            <a:r>
              <a:rPr dirty="0"/>
              <a:t> punya 1 </a:t>
            </a:r>
            <a:r>
              <a:rPr dirty="0" err="1"/>
              <a:t>profil</a:t>
            </a:r>
            <a:endParaRPr dirty="0"/>
          </a:p>
          <a:p>
            <a:pPr lvl="1">
              <a:spcBef>
                <a:spcPts val="500"/>
              </a:spcBef>
              <a:defRPr sz="1400"/>
            </a:pPr>
            <a:r>
              <a:rPr dirty="0"/>
              <a:t>• Admin → </a:t>
            </a:r>
            <a:r>
              <a:rPr dirty="0" err="1"/>
              <a:t>admin_profiles</a:t>
            </a:r>
            <a:r>
              <a:rPr dirty="0"/>
              <a:t> (via </a:t>
            </a:r>
            <a:r>
              <a:rPr dirty="0" err="1"/>
              <a:t>user_id</a:t>
            </a:r>
            <a:r>
              <a:rPr dirty="0"/>
              <a:t>)</a:t>
            </a:r>
          </a:p>
          <a:p>
            <a:pPr lvl="1">
              <a:spcBef>
                <a:spcPts val="500"/>
              </a:spcBef>
              <a:defRPr sz="1400"/>
            </a:pPr>
            <a:r>
              <a:rPr dirty="0"/>
              <a:t>• </a:t>
            </a:r>
            <a:r>
              <a:rPr dirty="0" err="1"/>
              <a:t>Mahasiswa</a:t>
            </a:r>
            <a:r>
              <a:rPr dirty="0"/>
              <a:t> → </a:t>
            </a:r>
            <a:r>
              <a:rPr dirty="0" err="1"/>
              <a:t>mahasiswa_profiles</a:t>
            </a:r>
            <a:r>
              <a:rPr dirty="0"/>
              <a:t> (via </a:t>
            </a:r>
            <a:r>
              <a:rPr dirty="0" err="1"/>
              <a:t>user_id</a:t>
            </a:r>
            <a:r>
              <a:rPr dirty="0"/>
              <a:t>)</a:t>
            </a:r>
          </a:p>
          <a:p>
            <a:pPr lvl="1">
              <a:spcBef>
                <a:spcPts val="500"/>
              </a:spcBef>
              <a:defRPr sz="1400"/>
            </a:pPr>
            <a:r>
              <a:rPr dirty="0"/>
              <a:t>• On delete: CASCADE (hapus user = hapus profile)</a:t>
            </a:r>
          </a:p>
          <a:p>
            <a:pPr>
              <a:spcBef>
                <a:spcPts val="1500"/>
              </a:spcBef>
              <a:defRPr sz="1800" b="1">
                <a:solidFill>
                  <a:srgbClr val="1565C0"/>
                </a:solidFill>
              </a:defRPr>
            </a:pPr>
            <a:r>
              <a:rPr dirty="0"/>
              <a:t>USERS ↔ VOTES (1:M)</a:t>
            </a:r>
          </a:p>
          <a:p>
            <a:pPr lvl="1">
              <a:spcBef>
                <a:spcPts val="500"/>
              </a:spcBef>
              <a:defRPr sz="1400"/>
            </a:pPr>
            <a:r>
              <a:rPr dirty="0"/>
              <a:t>• Satu user (</a:t>
            </a:r>
            <a:r>
              <a:rPr dirty="0" err="1"/>
              <a:t>mahasiswa</a:t>
            </a:r>
            <a:r>
              <a:rPr dirty="0"/>
              <a:t>) </a:t>
            </a:r>
            <a:r>
              <a:rPr dirty="0" err="1"/>
              <a:t>bisa</a:t>
            </a:r>
            <a:r>
              <a:rPr dirty="0"/>
              <a:t> punya </a:t>
            </a:r>
            <a:r>
              <a:rPr dirty="0" err="1"/>
              <a:t>banyak</a:t>
            </a:r>
            <a:r>
              <a:rPr dirty="0"/>
              <a:t> votes</a:t>
            </a:r>
          </a:p>
          <a:p>
            <a:pPr lvl="1">
              <a:spcBef>
                <a:spcPts val="500"/>
              </a:spcBef>
              <a:defRPr sz="1400"/>
            </a:pPr>
            <a:r>
              <a:rPr dirty="0"/>
              <a:t>• TAPI di-constraint </a:t>
            </a:r>
            <a:r>
              <a:rPr dirty="0" err="1"/>
              <a:t>hanya</a:t>
            </a:r>
            <a:r>
              <a:rPr dirty="0"/>
              <a:t> 1 vote per user</a:t>
            </a:r>
          </a:p>
          <a:p>
            <a:pPr lvl="1">
              <a:spcBef>
                <a:spcPts val="500"/>
              </a:spcBef>
              <a:defRPr sz="1400"/>
            </a:pPr>
            <a:r>
              <a:rPr dirty="0"/>
              <a:t>• Foreign key: </a:t>
            </a:r>
            <a:r>
              <a:rPr dirty="0" err="1"/>
              <a:t>votes.user_id</a:t>
            </a:r>
            <a:r>
              <a:rPr dirty="0"/>
              <a:t> → users.id</a:t>
            </a:r>
          </a:p>
          <a:p>
            <a:pPr>
              <a:spcBef>
                <a:spcPts val="1500"/>
              </a:spcBef>
              <a:defRPr sz="1800" b="1">
                <a:solidFill>
                  <a:srgbClr val="1565C0"/>
                </a:solidFill>
              </a:defRPr>
            </a:pPr>
            <a:r>
              <a:rPr dirty="0"/>
              <a:t>KANDIDAT ↔ VOTES (1:M)</a:t>
            </a:r>
          </a:p>
          <a:p>
            <a:pPr lvl="1">
              <a:spcBef>
                <a:spcPts val="500"/>
              </a:spcBef>
              <a:defRPr sz="1400"/>
            </a:pPr>
            <a:r>
              <a:rPr dirty="0"/>
              <a:t>• Satu </a:t>
            </a:r>
            <a:r>
              <a:rPr dirty="0" err="1"/>
              <a:t>kandidat</a:t>
            </a:r>
            <a:r>
              <a:rPr dirty="0"/>
              <a:t> </a:t>
            </a:r>
            <a:r>
              <a:rPr dirty="0" err="1"/>
              <a:t>bisa</a:t>
            </a:r>
            <a:r>
              <a:rPr dirty="0"/>
              <a:t> </a:t>
            </a:r>
            <a:r>
              <a:rPr dirty="0" err="1"/>
              <a:t>terima</a:t>
            </a:r>
            <a:r>
              <a:rPr dirty="0"/>
              <a:t> </a:t>
            </a:r>
            <a:r>
              <a:rPr dirty="0" err="1"/>
              <a:t>banyak</a:t>
            </a:r>
            <a:r>
              <a:rPr dirty="0"/>
              <a:t> votes</a:t>
            </a:r>
          </a:p>
          <a:p>
            <a:pPr lvl="1">
              <a:spcBef>
                <a:spcPts val="500"/>
              </a:spcBef>
              <a:defRPr sz="1400"/>
            </a:pPr>
            <a:r>
              <a:rPr dirty="0"/>
              <a:t>• Foreign key: </a:t>
            </a:r>
            <a:r>
              <a:rPr dirty="0" err="1"/>
              <a:t>votes.kandidat_id</a:t>
            </a:r>
            <a:r>
              <a:rPr dirty="0"/>
              <a:t> → kandidats.id</a:t>
            </a:r>
          </a:p>
          <a:p>
            <a:pPr lvl="1">
              <a:spcBef>
                <a:spcPts val="500"/>
              </a:spcBef>
              <a:defRPr sz="1400"/>
            </a:pPr>
            <a:r>
              <a:rPr dirty="0"/>
              <a:t>• Count votes </a:t>
            </a:r>
            <a:r>
              <a:rPr dirty="0" err="1"/>
              <a:t>untuk</a:t>
            </a:r>
            <a:r>
              <a:rPr dirty="0"/>
              <a:t> </a:t>
            </a:r>
            <a:r>
              <a:rPr dirty="0" err="1"/>
              <a:t>dapat</a:t>
            </a:r>
            <a:r>
              <a:rPr dirty="0"/>
              <a:t> total </a:t>
            </a:r>
            <a:r>
              <a:rPr dirty="0" err="1"/>
              <a:t>suara</a:t>
            </a:r>
            <a:r>
              <a:rPr dirty="0"/>
              <a:t> per </a:t>
            </a:r>
            <a:r>
              <a:rPr dirty="0" err="1"/>
              <a:t>kandidat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E53935"/>
                </a:solidFill>
              </a:defRPr>
            </a:pPr>
            <a:r>
              <a:t>VALIDASI &amp; ERROR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E53935"/>
                </a:solidFill>
              </a:defRPr>
            </a:pPr>
            <a:r>
              <a:rPr dirty="0"/>
              <a:t>📝 FORM REQUEST VALIDATION</a:t>
            </a:r>
          </a:p>
          <a:p>
            <a:pPr lvl="1">
              <a:spcBef>
                <a:spcPts val="400"/>
              </a:spcBef>
              <a:defRPr sz="1300"/>
            </a:pPr>
            <a:r>
              <a:rPr dirty="0"/>
              <a:t>  • </a:t>
            </a:r>
            <a:r>
              <a:rPr dirty="0" err="1"/>
              <a:t>Semua</a:t>
            </a:r>
            <a:r>
              <a:rPr dirty="0"/>
              <a:t> input di-</a:t>
            </a:r>
            <a:r>
              <a:rPr dirty="0" err="1"/>
              <a:t>validasi</a:t>
            </a:r>
            <a:r>
              <a:rPr dirty="0"/>
              <a:t> </a:t>
            </a:r>
            <a:r>
              <a:rPr dirty="0" err="1"/>
              <a:t>dengan</a:t>
            </a:r>
            <a:r>
              <a:rPr dirty="0"/>
              <a:t> Form Request classes</a:t>
            </a:r>
          </a:p>
          <a:p>
            <a:pPr lvl="1">
              <a:spcBef>
                <a:spcPts val="400"/>
              </a:spcBef>
              <a:defRPr sz="1300"/>
            </a:pPr>
            <a:r>
              <a:rPr dirty="0"/>
              <a:t>  • Custom error messages </a:t>
            </a:r>
            <a:r>
              <a:rPr dirty="0" err="1"/>
              <a:t>dalam</a:t>
            </a:r>
            <a:r>
              <a:rPr dirty="0"/>
              <a:t> Bahasa Indonesia</a:t>
            </a:r>
          </a:p>
          <a:p>
            <a:pPr lvl="1">
              <a:spcBef>
                <a:spcPts val="400"/>
              </a:spcBef>
              <a:defRPr sz="1300"/>
            </a:pPr>
            <a:r>
              <a:rPr dirty="0"/>
              <a:t>  • Client-side + server-side validation</a:t>
            </a:r>
          </a:p>
          <a:p>
            <a:pPr>
              <a:spcBef>
                <a:spcPts val="1200"/>
              </a:spcBef>
              <a:defRPr sz="1600" b="1">
                <a:solidFill>
                  <a:srgbClr val="E53935"/>
                </a:solidFill>
              </a:defRPr>
            </a:pPr>
            <a:r>
              <a:rPr dirty="0"/>
              <a:t>⚠️ ERROR SCENARIOS</a:t>
            </a:r>
          </a:p>
          <a:p>
            <a:pPr lvl="1">
              <a:spcBef>
                <a:spcPts val="400"/>
              </a:spcBef>
              <a:defRPr sz="1300"/>
            </a:pPr>
            <a:r>
              <a:rPr dirty="0"/>
              <a:t>  • NIM </a:t>
            </a:r>
            <a:r>
              <a:rPr dirty="0" err="1"/>
              <a:t>tidak</a:t>
            </a:r>
            <a:r>
              <a:rPr dirty="0"/>
              <a:t> </a:t>
            </a:r>
            <a:r>
              <a:rPr dirty="0" err="1"/>
              <a:t>ditemukan</a:t>
            </a:r>
            <a:r>
              <a:rPr dirty="0"/>
              <a:t> → redirect </a:t>
            </a:r>
            <a:r>
              <a:rPr dirty="0" err="1"/>
              <a:t>dengan</a:t>
            </a:r>
            <a:r>
              <a:rPr dirty="0"/>
              <a:t> error message</a:t>
            </a:r>
          </a:p>
          <a:p>
            <a:pPr lvl="1">
              <a:spcBef>
                <a:spcPts val="400"/>
              </a:spcBef>
              <a:defRPr sz="1300"/>
            </a:pPr>
            <a:r>
              <a:rPr dirty="0"/>
              <a:t>  • Password salah → </a:t>
            </a:r>
            <a:r>
              <a:rPr dirty="0" err="1"/>
              <a:t>tampilkan</a:t>
            </a:r>
            <a:r>
              <a:rPr dirty="0"/>
              <a:t> error</a:t>
            </a:r>
          </a:p>
          <a:p>
            <a:pPr lvl="1">
              <a:spcBef>
                <a:spcPts val="400"/>
              </a:spcBef>
              <a:defRPr sz="1300"/>
            </a:pPr>
            <a:r>
              <a:rPr dirty="0"/>
              <a:t>  • </a:t>
            </a:r>
            <a:r>
              <a:rPr dirty="0" err="1"/>
              <a:t>Sudah</a:t>
            </a:r>
            <a:r>
              <a:rPr dirty="0"/>
              <a:t> voting → </a:t>
            </a:r>
            <a:r>
              <a:rPr dirty="0" err="1"/>
              <a:t>tidak</a:t>
            </a:r>
            <a:r>
              <a:rPr dirty="0"/>
              <a:t> </a:t>
            </a:r>
            <a:r>
              <a:rPr dirty="0" err="1"/>
              <a:t>bisa</a:t>
            </a:r>
            <a:r>
              <a:rPr dirty="0"/>
              <a:t> </a:t>
            </a:r>
            <a:r>
              <a:rPr dirty="0" err="1"/>
              <a:t>akses</a:t>
            </a:r>
            <a:r>
              <a:rPr dirty="0"/>
              <a:t> /voting</a:t>
            </a:r>
          </a:p>
          <a:p>
            <a:pPr lvl="1">
              <a:spcBef>
                <a:spcPts val="400"/>
              </a:spcBef>
              <a:defRPr sz="1300"/>
            </a:pPr>
            <a:r>
              <a:rPr dirty="0"/>
              <a:t>  • Voting di </a:t>
            </a:r>
            <a:r>
              <a:rPr dirty="0" err="1"/>
              <a:t>luar</a:t>
            </a:r>
            <a:r>
              <a:rPr dirty="0"/>
              <a:t> </a:t>
            </a:r>
            <a:r>
              <a:rPr dirty="0" err="1"/>
              <a:t>periode</a:t>
            </a:r>
            <a:r>
              <a:rPr dirty="0"/>
              <a:t> → disable voting</a:t>
            </a:r>
          </a:p>
          <a:p>
            <a:pPr lvl="1">
              <a:spcBef>
                <a:spcPts val="400"/>
              </a:spcBef>
              <a:defRPr sz="1300"/>
            </a:pPr>
            <a:r>
              <a:rPr dirty="0"/>
              <a:t>  • </a:t>
            </a:r>
            <a:r>
              <a:rPr dirty="0" err="1"/>
              <a:t>Kandidat</a:t>
            </a:r>
            <a:r>
              <a:rPr dirty="0"/>
              <a:t> </a:t>
            </a:r>
            <a:r>
              <a:rPr dirty="0" err="1"/>
              <a:t>tidak</a:t>
            </a:r>
            <a:r>
              <a:rPr dirty="0"/>
              <a:t> valid → validation error</a:t>
            </a:r>
          </a:p>
          <a:p>
            <a:pPr>
              <a:spcBef>
                <a:spcPts val="1200"/>
              </a:spcBef>
              <a:defRPr sz="1600" b="1">
                <a:solidFill>
                  <a:srgbClr val="E53935"/>
                </a:solidFill>
              </a:defRPr>
            </a:pPr>
            <a:r>
              <a:rPr dirty="0"/>
              <a:t>🔄 TRANSACTION HANDLING</a:t>
            </a:r>
          </a:p>
          <a:p>
            <a:pPr lvl="1">
              <a:spcBef>
                <a:spcPts val="400"/>
              </a:spcBef>
              <a:defRPr sz="1300"/>
            </a:pPr>
            <a:r>
              <a:rPr dirty="0"/>
              <a:t>  • Critical operations wrapped </a:t>
            </a:r>
            <a:r>
              <a:rPr dirty="0" err="1"/>
              <a:t>dalam</a:t>
            </a:r>
            <a:r>
              <a:rPr dirty="0"/>
              <a:t> transaction</a:t>
            </a:r>
          </a:p>
          <a:p>
            <a:pPr lvl="1">
              <a:spcBef>
                <a:spcPts val="400"/>
              </a:spcBef>
              <a:defRPr sz="1300"/>
            </a:pPr>
            <a:r>
              <a:rPr dirty="0"/>
              <a:t>  • Rollback </a:t>
            </a:r>
            <a:r>
              <a:rPr dirty="0" err="1"/>
              <a:t>jika</a:t>
            </a:r>
            <a:r>
              <a:rPr dirty="0"/>
              <a:t> </a:t>
            </a:r>
            <a:r>
              <a:rPr dirty="0" err="1"/>
              <a:t>ada</a:t>
            </a:r>
            <a:r>
              <a:rPr dirty="0"/>
              <a:t> error</a:t>
            </a:r>
          </a:p>
          <a:p>
            <a:pPr lvl="1">
              <a:spcBef>
                <a:spcPts val="400"/>
              </a:spcBef>
              <a:defRPr sz="1300"/>
            </a:pPr>
            <a:r>
              <a:rPr dirty="0"/>
              <a:t>  • Ensure data consistency</a:t>
            </a:r>
          </a:p>
          <a:p>
            <a:pPr>
              <a:spcBef>
                <a:spcPts val="1200"/>
              </a:spcBef>
              <a:defRPr sz="1600" b="1">
                <a:solidFill>
                  <a:srgbClr val="E53935"/>
                </a:solidFill>
              </a:defRPr>
            </a:pPr>
            <a:r>
              <a:rPr dirty="0"/>
              <a:t>📋 LOGGING</a:t>
            </a:r>
          </a:p>
          <a:p>
            <a:pPr lvl="1">
              <a:spcBef>
                <a:spcPts val="400"/>
              </a:spcBef>
              <a:defRPr sz="1300"/>
            </a:pPr>
            <a:r>
              <a:rPr dirty="0"/>
              <a:t>  • Activity log </a:t>
            </a:r>
            <a:r>
              <a:rPr dirty="0" err="1"/>
              <a:t>untuk</a:t>
            </a:r>
            <a:r>
              <a:rPr dirty="0"/>
              <a:t> admin actions</a:t>
            </a:r>
          </a:p>
          <a:p>
            <a:pPr lvl="1">
              <a:spcBef>
                <a:spcPts val="400"/>
              </a:spcBef>
              <a:defRPr sz="1300"/>
            </a:pPr>
            <a:r>
              <a:rPr dirty="0"/>
              <a:t>  • Error logging </a:t>
            </a:r>
            <a:r>
              <a:rPr dirty="0" err="1"/>
              <a:t>untuk</a:t>
            </a:r>
            <a:r>
              <a:rPr dirty="0"/>
              <a:t> debugging</a:t>
            </a:r>
          </a:p>
          <a:p>
            <a:pPr lvl="1">
              <a:spcBef>
                <a:spcPts val="400"/>
              </a:spcBef>
              <a:defRPr sz="1300"/>
            </a:pPr>
            <a:r>
              <a:rPr dirty="0"/>
              <a:t>  • Access log </a:t>
            </a:r>
            <a:r>
              <a:rPr dirty="0" err="1"/>
              <a:t>untuk</a:t>
            </a:r>
            <a:r>
              <a:rPr dirty="0"/>
              <a:t> security audit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565C0"/>
                </a:solidFill>
              </a:defRPr>
            </a:pPr>
            <a:r>
              <a:t>BEST PRACTICES IMPLEMENTASI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spcBef>
                <a:spcPts val="800"/>
              </a:spcBef>
              <a:defRPr sz="1500"/>
            </a:pPr>
            <a:r>
              <a:rPr dirty="0"/>
              <a:t>✓ MVC Architecture (Model-View-Controller)</a:t>
            </a:r>
          </a:p>
          <a:p>
            <a:pPr>
              <a:spcBef>
                <a:spcPts val="800"/>
              </a:spcBef>
              <a:defRPr sz="1500"/>
            </a:pPr>
            <a:r>
              <a:rPr dirty="0"/>
              <a:t>✓ Repository pattern </a:t>
            </a:r>
            <a:r>
              <a:rPr dirty="0" err="1"/>
              <a:t>untuk</a:t>
            </a:r>
            <a:r>
              <a:rPr dirty="0"/>
              <a:t> data access</a:t>
            </a:r>
          </a:p>
          <a:p>
            <a:pPr>
              <a:spcBef>
                <a:spcPts val="800"/>
              </a:spcBef>
              <a:defRPr sz="1500"/>
            </a:pPr>
            <a:r>
              <a:rPr dirty="0"/>
              <a:t>✓ Service classes </a:t>
            </a:r>
            <a:r>
              <a:rPr dirty="0" err="1"/>
              <a:t>untuk</a:t>
            </a:r>
            <a:r>
              <a:rPr dirty="0"/>
              <a:t> business logic</a:t>
            </a:r>
          </a:p>
          <a:p>
            <a:pPr>
              <a:spcBef>
                <a:spcPts val="800"/>
              </a:spcBef>
              <a:defRPr sz="1500"/>
            </a:pPr>
            <a:r>
              <a:rPr dirty="0"/>
              <a:t>✓ Eloquent ORM </a:t>
            </a:r>
            <a:r>
              <a:rPr dirty="0" err="1"/>
              <a:t>untuk</a:t>
            </a:r>
            <a:r>
              <a:rPr dirty="0"/>
              <a:t> database queries</a:t>
            </a:r>
          </a:p>
          <a:p>
            <a:pPr>
              <a:spcBef>
                <a:spcPts val="800"/>
              </a:spcBef>
              <a:defRPr sz="1500"/>
            </a:pPr>
            <a:r>
              <a:rPr dirty="0"/>
              <a:t>✓ Middleware </a:t>
            </a:r>
            <a:r>
              <a:rPr dirty="0" err="1"/>
              <a:t>untuk</a:t>
            </a:r>
            <a:r>
              <a:rPr dirty="0"/>
              <a:t> authorization</a:t>
            </a:r>
          </a:p>
          <a:p>
            <a:pPr>
              <a:spcBef>
                <a:spcPts val="800"/>
              </a:spcBef>
              <a:defRPr sz="1500"/>
            </a:pPr>
            <a:r>
              <a:rPr dirty="0"/>
              <a:t>✓ Form Request </a:t>
            </a:r>
            <a:r>
              <a:rPr dirty="0" err="1"/>
              <a:t>untuk</a:t>
            </a:r>
            <a:r>
              <a:rPr dirty="0"/>
              <a:t> validation</a:t>
            </a:r>
          </a:p>
          <a:p>
            <a:pPr>
              <a:spcBef>
                <a:spcPts val="800"/>
              </a:spcBef>
              <a:defRPr sz="1500"/>
            </a:pPr>
            <a:r>
              <a:rPr dirty="0"/>
              <a:t>✓ Resource Controllers </a:t>
            </a:r>
            <a:r>
              <a:rPr dirty="0" err="1"/>
              <a:t>untuk</a:t>
            </a:r>
            <a:r>
              <a:rPr dirty="0"/>
              <a:t> CRUD</a:t>
            </a:r>
          </a:p>
          <a:p>
            <a:pPr>
              <a:spcBef>
                <a:spcPts val="800"/>
              </a:spcBef>
              <a:defRPr sz="1500"/>
            </a:pPr>
            <a:r>
              <a:rPr dirty="0"/>
              <a:t>✓ Named routes </a:t>
            </a:r>
            <a:r>
              <a:rPr dirty="0" err="1"/>
              <a:t>untuk</a:t>
            </a:r>
            <a:r>
              <a:rPr dirty="0"/>
              <a:t> URL generation</a:t>
            </a:r>
          </a:p>
          <a:p>
            <a:pPr>
              <a:spcBef>
                <a:spcPts val="800"/>
              </a:spcBef>
              <a:defRPr sz="1500"/>
            </a:pPr>
            <a:r>
              <a:rPr dirty="0"/>
              <a:t>✓ Blade templates </a:t>
            </a:r>
            <a:r>
              <a:rPr dirty="0" err="1"/>
              <a:t>untuk</a:t>
            </a:r>
            <a:r>
              <a:rPr dirty="0"/>
              <a:t> views</a:t>
            </a:r>
          </a:p>
          <a:p>
            <a:pPr>
              <a:spcBef>
                <a:spcPts val="800"/>
              </a:spcBef>
              <a:defRPr sz="1500"/>
            </a:pPr>
            <a:r>
              <a:rPr dirty="0"/>
              <a:t>✓ Asset compilation </a:t>
            </a:r>
            <a:r>
              <a:rPr dirty="0" err="1"/>
              <a:t>dengan</a:t>
            </a:r>
            <a:r>
              <a:rPr dirty="0"/>
              <a:t> Vite</a:t>
            </a:r>
          </a:p>
          <a:p>
            <a:pPr>
              <a:spcBef>
                <a:spcPts val="800"/>
              </a:spcBef>
              <a:defRPr sz="1500"/>
            </a:pPr>
            <a:r>
              <a:rPr dirty="0"/>
              <a:t>✓ Environment-based configuration</a:t>
            </a:r>
          </a:p>
          <a:p>
            <a:pPr>
              <a:spcBef>
                <a:spcPts val="800"/>
              </a:spcBef>
              <a:defRPr sz="1500"/>
            </a:pPr>
            <a:r>
              <a:rPr dirty="0"/>
              <a:t>✓ Database seeding </a:t>
            </a:r>
            <a:r>
              <a:rPr dirty="0" err="1"/>
              <a:t>untuk</a:t>
            </a:r>
            <a:r>
              <a:rPr dirty="0"/>
              <a:t> testing</a:t>
            </a:r>
          </a:p>
          <a:p>
            <a:pPr>
              <a:spcBef>
                <a:spcPts val="800"/>
              </a:spcBef>
              <a:defRPr sz="1500"/>
            </a:pPr>
            <a:r>
              <a:rPr dirty="0"/>
              <a:t>✓ Migration </a:t>
            </a:r>
            <a:r>
              <a:rPr dirty="0" err="1"/>
              <a:t>untuk</a:t>
            </a:r>
            <a:r>
              <a:rPr dirty="0"/>
              <a:t> version control database</a:t>
            </a:r>
          </a:p>
          <a:p>
            <a:pPr>
              <a:spcBef>
                <a:spcPts val="800"/>
              </a:spcBef>
              <a:defRPr sz="1500"/>
            </a:pPr>
            <a:r>
              <a:rPr dirty="0"/>
              <a:t>✓ Responsive design (mobile-first)</a:t>
            </a:r>
          </a:p>
          <a:p>
            <a:pPr>
              <a:spcBef>
                <a:spcPts val="800"/>
              </a:spcBef>
              <a:defRPr sz="1500"/>
            </a:pPr>
            <a:r>
              <a:rPr dirty="0"/>
              <a:t>✓ SEO-friendly structure</a:t>
            </a:r>
          </a:p>
          <a:p>
            <a:pPr>
              <a:spcBef>
                <a:spcPts val="800"/>
              </a:spcBef>
              <a:defRPr sz="1500"/>
            </a:pPr>
            <a:r>
              <a:rPr dirty="0"/>
              <a:t>✓ Code formatting </a:t>
            </a:r>
            <a:r>
              <a:rPr dirty="0" err="1"/>
              <a:t>dengan</a:t>
            </a:r>
            <a:r>
              <a:rPr dirty="0"/>
              <a:t> Laravel Pint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FB8C00"/>
                </a:solidFill>
              </a:defRPr>
            </a:pPr>
            <a:r>
              <a:t>POTENSI PENGEMBANGAN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spcBef>
                <a:spcPts val="1200"/>
              </a:spcBef>
              <a:defRPr sz="1600" b="1">
                <a:solidFill>
                  <a:srgbClr val="FB8C00"/>
                </a:solidFill>
              </a:defRPr>
            </a:pPr>
            <a:r>
              <a:rPr dirty="0"/>
              <a:t>🔐 KEAMANAN TAMBAHAN</a:t>
            </a:r>
          </a:p>
          <a:p>
            <a:pPr lvl="1">
              <a:spcBef>
                <a:spcPts val="300"/>
              </a:spcBef>
              <a:defRPr sz="1200"/>
            </a:pPr>
            <a:r>
              <a:rPr dirty="0"/>
              <a:t>  • Two-factor authentication (2FA)</a:t>
            </a:r>
          </a:p>
          <a:p>
            <a:pPr lvl="1">
              <a:spcBef>
                <a:spcPts val="300"/>
              </a:spcBef>
              <a:defRPr sz="1200"/>
            </a:pPr>
            <a:r>
              <a:rPr dirty="0"/>
              <a:t>  • Email verification </a:t>
            </a:r>
            <a:r>
              <a:rPr dirty="0" err="1"/>
              <a:t>untuk</a:t>
            </a:r>
            <a:r>
              <a:rPr dirty="0"/>
              <a:t> </a:t>
            </a:r>
            <a:r>
              <a:rPr dirty="0" err="1"/>
              <a:t>mahasiswa</a:t>
            </a:r>
            <a:endParaRPr dirty="0"/>
          </a:p>
          <a:p>
            <a:pPr lvl="1">
              <a:spcBef>
                <a:spcPts val="300"/>
              </a:spcBef>
              <a:defRPr sz="1200"/>
            </a:pPr>
            <a:r>
              <a:rPr dirty="0"/>
              <a:t>  • Biometric verification (fingerprint/face)</a:t>
            </a:r>
          </a:p>
          <a:p>
            <a:pPr lvl="1">
              <a:spcBef>
                <a:spcPts val="300"/>
              </a:spcBef>
              <a:defRPr sz="1200"/>
            </a:pPr>
            <a:r>
              <a:rPr dirty="0"/>
              <a:t>  • Rate limiting </a:t>
            </a:r>
            <a:r>
              <a:rPr dirty="0" err="1"/>
              <a:t>untuk</a:t>
            </a:r>
            <a:r>
              <a:rPr dirty="0"/>
              <a:t> prevent brute force</a:t>
            </a:r>
          </a:p>
          <a:p>
            <a:pPr>
              <a:spcBef>
                <a:spcPts val="1200"/>
              </a:spcBef>
              <a:defRPr sz="1600" b="1">
                <a:solidFill>
                  <a:srgbClr val="FB8C00"/>
                </a:solidFill>
              </a:defRPr>
            </a:pPr>
            <a:r>
              <a:rPr dirty="0"/>
              <a:t>📊 ANALYTICS LANJUTAN</a:t>
            </a:r>
          </a:p>
          <a:p>
            <a:pPr lvl="1">
              <a:spcBef>
                <a:spcPts val="300"/>
              </a:spcBef>
              <a:defRPr sz="1200"/>
            </a:pPr>
            <a:r>
              <a:rPr dirty="0"/>
              <a:t>  • Voting statistics by </a:t>
            </a:r>
            <a:r>
              <a:rPr dirty="0" err="1"/>
              <a:t>prodi</a:t>
            </a:r>
            <a:r>
              <a:rPr dirty="0"/>
              <a:t>, </a:t>
            </a:r>
            <a:r>
              <a:rPr dirty="0" err="1"/>
              <a:t>angkatan</a:t>
            </a:r>
            <a:endParaRPr dirty="0"/>
          </a:p>
          <a:p>
            <a:pPr lvl="1">
              <a:spcBef>
                <a:spcPts val="300"/>
              </a:spcBef>
              <a:defRPr sz="1200"/>
            </a:pPr>
            <a:r>
              <a:rPr dirty="0"/>
              <a:t>  • Participation rate monitoring</a:t>
            </a:r>
          </a:p>
          <a:p>
            <a:pPr lvl="1">
              <a:spcBef>
                <a:spcPts val="300"/>
              </a:spcBef>
              <a:defRPr sz="1200"/>
            </a:pPr>
            <a:r>
              <a:rPr dirty="0"/>
              <a:t>  • Demographic analysis</a:t>
            </a:r>
          </a:p>
          <a:p>
            <a:pPr lvl="1">
              <a:spcBef>
                <a:spcPts val="300"/>
              </a:spcBef>
              <a:defRPr sz="1200"/>
            </a:pPr>
            <a:r>
              <a:rPr dirty="0"/>
              <a:t>  • Export report PDF/Excel</a:t>
            </a:r>
          </a:p>
          <a:p>
            <a:pPr>
              <a:spcBef>
                <a:spcPts val="1200"/>
              </a:spcBef>
              <a:defRPr sz="1600" b="1">
                <a:solidFill>
                  <a:srgbClr val="FB8C00"/>
                </a:solidFill>
              </a:defRPr>
            </a:pPr>
            <a:r>
              <a:rPr dirty="0"/>
              <a:t>🚀 FITUR TAMBAHAN</a:t>
            </a:r>
          </a:p>
          <a:p>
            <a:pPr lvl="1">
              <a:spcBef>
                <a:spcPts val="300"/>
              </a:spcBef>
              <a:defRPr sz="1200"/>
            </a:pPr>
            <a:r>
              <a:rPr dirty="0"/>
              <a:t>  • Live streaming </a:t>
            </a:r>
            <a:r>
              <a:rPr dirty="0" err="1"/>
              <a:t>hasil</a:t>
            </a:r>
            <a:r>
              <a:rPr dirty="0"/>
              <a:t> voting</a:t>
            </a:r>
          </a:p>
          <a:p>
            <a:pPr lvl="1">
              <a:spcBef>
                <a:spcPts val="300"/>
              </a:spcBef>
              <a:defRPr sz="1200"/>
            </a:pPr>
            <a:r>
              <a:rPr dirty="0"/>
              <a:t>  • Email notification </a:t>
            </a:r>
            <a:r>
              <a:rPr dirty="0" err="1"/>
              <a:t>setelah</a:t>
            </a:r>
            <a:r>
              <a:rPr dirty="0"/>
              <a:t> voting</a:t>
            </a:r>
          </a:p>
          <a:p>
            <a:pPr lvl="1">
              <a:spcBef>
                <a:spcPts val="300"/>
              </a:spcBef>
              <a:defRPr sz="1200"/>
            </a:pPr>
            <a:r>
              <a:rPr dirty="0"/>
              <a:t>  • QR code </a:t>
            </a:r>
            <a:r>
              <a:rPr dirty="0" err="1"/>
              <a:t>untuk</a:t>
            </a:r>
            <a:r>
              <a:rPr dirty="0"/>
              <a:t> quick access</a:t>
            </a:r>
          </a:p>
          <a:p>
            <a:pPr lvl="1">
              <a:spcBef>
                <a:spcPts val="300"/>
              </a:spcBef>
              <a:defRPr sz="1200"/>
            </a:pPr>
            <a:r>
              <a:rPr dirty="0"/>
              <a:t>  • Multiple voting sessions/</a:t>
            </a:r>
            <a:r>
              <a:rPr dirty="0" err="1"/>
              <a:t>periode</a:t>
            </a:r>
            <a:endParaRPr dirty="0"/>
          </a:p>
          <a:p>
            <a:pPr lvl="1">
              <a:spcBef>
                <a:spcPts val="300"/>
              </a:spcBef>
              <a:defRPr sz="1200"/>
            </a:pPr>
            <a:r>
              <a:rPr dirty="0"/>
              <a:t>  • Voting </a:t>
            </a:r>
            <a:r>
              <a:rPr dirty="0" err="1"/>
              <a:t>untuk</a:t>
            </a:r>
            <a:r>
              <a:rPr dirty="0"/>
              <a:t> </a:t>
            </a:r>
            <a:r>
              <a:rPr dirty="0" err="1"/>
              <a:t>berbagai</a:t>
            </a:r>
            <a:r>
              <a:rPr dirty="0"/>
              <a:t> </a:t>
            </a:r>
            <a:r>
              <a:rPr dirty="0" err="1"/>
              <a:t>posisi</a:t>
            </a:r>
            <a:r>
              <a:rPr dirty="0"/>
              <a:t> (</a:t>
            </a:r>
            <a:r>
              <a:rPr dirty="0" err="1"/>
              <a:t>Ketua</a:t>
            </a:r>
            <a:r>
              <a:rPr dirty="0"/>
              <a:t>, Wakil, </a:t>
            </a:r>
            <a:r>
              <a:rPr dirty="0" err="1"/>
              <a:t>dll</a:t>
            </a:r>
            <a:r>
              <a:rPr dirty="0"/>
              <a:t>)</a:t>
            </a:r>
          </a:p>
          <a:p>
            <a:pPr lvl="1">
              <a:spcBef>
                <a:spcPts val="300"/>
              </a:spcBef>
              <a:defRPr sz="1200"/>
            </a:pPr>
            <a:r>
              <a:rPr dirty="0"/>
              <a:t>  • </a:t>
            </a:r>
            <a:r>
              <a:rPr dirty="0" err="1"/>
              <a:t>Komentar</a:t>
            </a:r>
            <a:r>
              <a:rPr dirty="0"/>
              <a:t>/feedback </a:t>
            </a:r>
            <a:r>
              <a:rPr dirty="0" err="1"/>
              <a:t>untuk</a:t>
            </a:r>
            <a:r>
              <a:rPr dirty="0"/>
              <a:t> </a:t>
            </a:r>
            <a:r>
              <a:rPr dirty="0" err="1"/>
              <a:t>kandidat</a:t>
            </a:r>
            <a:endParaRPr dirty="0"/>
          </a:p>
          <a:p>
            <a:pPr>
              <a:spcBef>
                <a:spcPts val="1200"/>
              </a:spcBef>
              <a:defRPr sz="1600" b="1">
                <a:solidFill>
                  <a:srgbClr val="FB8C00"/>
                </a:solidFill>
              </a:defRPr>
            </a:pPr>
            <a:r>
              <a:rPr dirty="0"/>
              <a:t>📱 MOBILE APP</a:t>
            </a:r>
          </a:p>
          <a:p>
            <a:pPr lvl="1">
              <a:spcBef>
                <a:spcPts val="300"/>
              </a:spcBef>
              <a:defRPr sz="1200"/>
            </a:pPr>
            <a:r>
              <a:rPr dirty="0"/>
              <a:t>  • Native mobile app (iOS/Android)</a:t>
            </a:r>
          </a:p>
          <a:p>
            <a:pPr lvl="1">
              <a:spcBef>
                <a:spcPts val="300"/>
              </a:spcBef>
              <a:defRPr sz="1200"/>
            </a:pPr>
            <a:r>
              <a:rPr dirty="0"/>
              <a:t>  • Push notifications</a:t>
            </a:r>
          </a:p>
          <a:p>
            <a:pPr lvl="1">
              <a:spcBef>
                <a:spcPts val="300"/>
              </a:spcBef>
              <a:defRPr sz="1200"/>
            </a:pPr>
            <a:r>
              <a:rPr dirty="0"/>
              <a:t>  • Offline capability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TERIMA KASIH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39095" y="3474720"/>
            <a:ext cx="5065809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42A5F5"/>
                </a:solidFill>
              </a:defRPr>
            </a:pPr>
            <a:r>
              <a:rPr dirty="0"/>
              <a:t>SISTEM E-VOTING BEM</a:t>
            </a:r>
          </a:p>
          <a:p>
            <a:pPr algn="ctr"/>
            <a:br>
              <a:rPr dirty="0"/>
            </a:br>
            <a:r>
              <a:rPr dirty="0" err="1"/>
              <a:t>Sistem</a:t>
            </a:r>
            <a:r>
              <a:rPr dirty="0"/>
              <a:t> </a:t>
            </a:r>
            <a:r>
              <a:rPr dirty="0" err="1"/>
              <a:t>Pemilihan</a:t>
            </a:r>
            <a:r>
              <a:rPr dirty="0"/>
              <a:t> Digital yang Aman dan </a:t>
            </a:r>
            <a:r>
              <a:rPr dirty="0" err="1"/>
              <a:t>Transparan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1984</Words>
  <Application>Microsoft Office PowerPoint</Application>
  <PresentationFormat>On-screen Show (4:3)</PresentationFormat>
  <Paragraphs>347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DAFTAR ISI</vt:lpstr>
      <vt:lpstr>GAMBARAN UMUM SISTEM</vt:lpstr>
      <vt:lpstr>ARSITEKTUR DATABASE</vt:lpstr>
      <vt:lpstr>PERAN PENGGUNA (USER ROLES)</vt:lpstr>
      <vt:lpstr>ALUR MAHASISWA: VERIFIKASI</vt:lpstr>
      <vt:lpstr>ALUR MAHASISWA: VOTING</vt:lpstr>
      <vt:lpstr>ALUR ADMIN: LOGIN &amp; DASHBOARD</vt:lpstr>
      <vt:lpstr>ALUR ADMIN: MANAJEMEN KANDIDAT</vt:lpstr>
      <vt:lpstr>ALUR ADMIN: MANAJEMEN MAHASISWA</vt:lpstr>
      <vt:lpstr>ALUR VOTING LENGKAP</vt:lpstr>
      <vt:lpstr>KEAMANAN &amp; VALIDASI</vt:lpstr>
      <vt:lpstr>FITUR-FITUR SISTEM</vt:lpstr>
      <vt:lpstr>FITUR PUBLIC (TANPA LOGIN)</vt:lpstr>
      <vt:lpstr>TEKNOLOGI YANG DIGUNAKAN</vt:lpstr>
      <vt:lpstr>STRUKTUR ROUTE</vt:lpstr>
      <vt:lpstr>RELASI DATABASE DETAIL</vt:lpstr>
      <vt:lpstr>VALIDASI &amp; ERROR HANDLING</vt:lpstr>
      <vt:lpstr>BEST PRACTICES IMPLEMENTASI</vt:lpstr>
      <vt:lpstr>POTENSI PENGEMBANGAN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HAYAT NAHRUL</cp:lastModifiedBy>
  <cp:revision>2</cp:revision>
  <dcterms:created xsi:type="dcterms:W3CDTF">2013-01-27T09:14:16Z</dcterms:created>
  <dcterms:modified xsi:type="dcterms:W3CDTF">2026-02-10T06:44:25Z</dcterms:modified>
  <cp:category/>
</cp:coreProperties>
</file>